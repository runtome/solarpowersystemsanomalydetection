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2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Tahoma"/>
              </a:defRPr>
            </a:pPr>
            <a:r>
              <a:t>การตรวจจับความผิดปกติในระบบผลิตไฟฟ้าพลังงานแสงอาทิตย์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8C00"/>
                </a:solidFill>
                <a:latin typeface="Tahoma"/>
              </a:defRPr>
            </a:pPr>
            <a:r>
              <a:t>ด้วย Machine Learning และ Deep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657600"/>
            <a:ext cx="54864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Tahoma"/>
              </a:defRPr>
            </a:pPr>
            <a:r>
              <a:t>Site 1  |  มิถุนายน - ธันวาคม 2568  |  PyTorch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คำชี้แจงปัญหา (Problem Statement)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Tahoma"/>
              </a:defRPr>
            </a:pPr>
            <a:r>
              <a:t>เป้าหมาย: ตรวจจับความผิดปกติในการผลิตไฟฟ้าพลังงานแสงอาทิตย์ ที่บ่งชี้ถึงความเสียหายของอุปกรณ์ แผงโซลาร์เสื่อมสภาพ อินเวอร์เตอร์ขัดข้อง หรือเซ็นเซอร์ผิดพลาด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Tahoma"/>
              </a:defRPr>
            </a:pPr>
            <a:r>
              <a:t>ทำไมจึงสำคัญ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Tahoma"/>
              </a:rPr>
              <a:t>ความผิดปกติที่ไม่ถูกตรวจพบ ทำให้สูญเสียพลังงานและรายได้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Tahoma"/>
              </a:rPr>
              <a:t>การตรวจจับล่วงหน้าช่วยให้ซ่อมบำรุงเชิงป้องกันได้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Tahoma"/>
              </a:rPr>
              <a:t>ลดเวลาหยุดทำงานของระบบ ยืดอายุการใช้งานอุปกรณ์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Tahoma"/>
              </a:rPr>
              <a:t>สำคัญต่อการขยายระบบโซลาร์อย่างมีเสถียรภาพ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Tahoma"/>
              </a:defRPr>
            </a:pPr>
            <a:r>
              <a:t>แนวทาง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Tahoma"/>
              </a:rPr>
              <a:t>สอนโมเดลให้เรียนรู้ความสัมพันธ์ปกติระหว่างสภาพอากาศกับการผลิตไฟฟ้า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Tahoma"/>
              </a:rPr>
              <a:t>เมื่อค่าจริงเบี่ยงเบนจากค่าทำนายอย่างมาก ให้ตั้งสถานะเป็นความผิดปกติ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Tahoma"/>
              </a:rPr>
              <a:t>ใช้หลายโมเดล (ML + DL) และ Ensemble Voting เพื่อเพิ่มความน่าเชื่อถือ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รายละเอียดข้อมูล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Tahoma"/>
              </a:defRPr>
            </a:pPr>
            <a:r>
              <a:t>โรงไฟฟ้าพลังงานแสงอาทิตย์ Site 1  |  มิ.ย. - ธ.ค. 2568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630589"/>
              </p:ext>
            </p:extLst>
          </p:nvPr>
        </p:nvGraphicFramePr>
        <p:xfrm>
          <a:off x="548640" y="1371600"/>
          <a:ext cx="626776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3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8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5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5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rPr sz="1600"/>
                        <a:t>เซ็นเซอร์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rPr sz="1600"/>
                        <a:t>ตัวแปร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rPr sz="1600" dirty="0" err="1"/>
                        <a:t>หน่วย</a:t>
                      </a:r>
                      <a:endParaRPr sz="1600" dirty="0"/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rPr sz="1600"/>
                        <a:t>บทบาท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rPr sz="1600"/>
                        <a:t>ความละเอียด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rPr sz="1600"/>
                        <a:t>จำนวนแถว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การผลิตไฟฟ้า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กำลังผลิตไฟฟ้า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kW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เป้าหมาย (Y)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~1 นาที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26,226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ความเข้มแสง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ความเข้มรังสีแสงอาทิตย์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W/m²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ฟีเจอร์ (X)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~1 นาที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 dirty="0"/>
                        <a:t>26,177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อุณหภูมิ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อุณหภูมิแวดล้อม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°C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ฟีเจอร์ 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~1 นาที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26,195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โหลด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การใช้ไฟฟ้า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kW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บริบท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15 นาที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 dirty="0"/>
                        <a:t>17,367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6576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Tahoma"/>
              </a:defRPr>
            </a:pPr>
            <a:r>
              <a:rPr sz="2400" dirty="0" err="1"/>
              <a:t>สถิติตัวแปร</a:t>
            </a:r>
            <a:r>
              <a:rPr sz="2400" dirty="0"/>
              <a:t> (</a:t>
            </a:r>
            <a:r>
              <a:rPr sz="2400" dirty="0" err="1"/>
              <a:t>หลังทำความสะอาดข้อมูล</a:t>
            </a:r>
            <a:r>
              <a:rPr sz="2400" dirty="0"/>
              <a:t>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153351"/>
              </p:ext>
            </p:extLst>
          </p:nvPr>
        </p:nvGraphicFramePr>
        <p:xfrm>
          <a:off x="548640" y="4114800"/>
          <a:ext cx="5765801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4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rPr sz="1800"/>
                        <a:t>ตัวแปร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rPr sz="1800"/>
                        <a:t>ค่าเฉลี่ย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rPr sz="1800" dirty="0" err="1"/>
                        <a:t>ส่วนเบี่ยงเบน</a:t>
                      </a:r>
                      <a:endParaRPr sz="1800" dirty="0"/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rPr sz="1800"/>
                        <a:t>ต่ำสุด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rPr sz="1800"/>
                        <a:t>สูงสุด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การผลิต (kW)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96.53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150.86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638.00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ความเข้มแสง (W/m²)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157.76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243.96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0.00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1,073.00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อุณหภูมิ (°C)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28.73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3.01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 dirty="0"/>
                        <a:t>37.05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Tahoma"/>
              </a:defRPr>
            </a:pPr>
            <a:r>
              <a:t>การวิเคราะห์ข้อมูลเชิงสำรวจ (EDA)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Tahoma"/>
              </a:defRPr>
            </a:pPr>
            <a:r>
              <a:t>ทำความเข้าใจข้อมูลก่อนการสร้างโมเดล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246120"/>
            <a:ext cx="45720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การเตรียมข้อมูล (Data Preprocessing)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040"/>
                </a:solidFill>
                <a:latin typeface="Tahoma"/>
              </a:defRPr>
            </a:pPr>
            <a:r>
              <a:t>ปัญหา: ความละเอียดเวลาต่างกัน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dirty="0" err="1">
                <a:solidFill>
                  <a:srgbClr val="1A1A2E"/>
                </a:solidFill>
                <a:latin typeface="Tahoma"/>
              </a:rPr>
              <a:t>การผลิต</a:t>
            </a:r>
            <a:r>
              <a:rPr dirty="0">
                <a:solidFill>
                  <a:srgbClr val="1A1A2E"/>
                </a:solidFill>
                <a:latin typeface="Tahoma"/>
              </a:rPr>
              <a:t>, </a:t>
            </a:r>
            <a:r>
              <a:rPr dirty="0" err="1">
                <a:solidFill>
                  <a:srgbClr val="1A1A2E"/>
                </a:solidFill>
                <a:latin typeface="Tahoma"/>
              </a:rPr>
              <a:t>ความเข้มแสง</a:t>
            </a:r>
            <a:r>
              <a:rPr dirty="0">
                <a:solidFill>
                  <a:srgbClr val="1A1A2E"/>
                </a:solidFill>
                <a:latin typeface="Tahoma"/>
              </a:rPr>
              <a:t>, </a:t>
            </a:r>
            <a:r>
              <a:rPr dirty="0" err="1">
                <a:solidFill>
                  <a:srgbClr val="1A1A2E"/>
                </a:solidFill>
                <a:latin typeface="Tahoma"/>
              </a:rPr>
              <a:t>อุณหภูมิ</a:t>
            </a:r>
            <a:r>
              <a:rPr dirty="0">
                <a:solidFill>
                  <a:srgbClr val="1A1A2E"/>
                </a:solidFill>
                <a:latin typeface="Tahoma"/>
              </a:rPr>
              <a:t>: </a:t>
            </a:r>
            <a:r>
              <a:rPr dirty="0" err="1">
                <a:solidFill>
                  <a:srgbClr val="1A1A2E"/>
                </a:solidFill>
                <a:latin typeface="Tahoma"/>
              </a:rPr>
              <a:t>ทุก</a:t>
            </a:r>
            <a:r>
              <a:rPr dirty="0">
                <a:solidFill>
                  <a:srgbClr val="1A1A2E"/>
                </a:solidFill>
                <a:latin typeface="Tahoma"/>
              </a:rPr>
              <a:t> ~1 </a:t>
            </a:r>
            <a:r>
              <a:rPr dirty="0" err="1">
                <a:solidFill>
                  <a:srgbClr val="1A1A2E"/>
                </a:solidFill>
                <a:latin typeface="Tahoma"/>
              </a:rPr>
              <a:t>นาที</a:t>
            </a:r>
            <a:endParaRPr dirty="0">
              <a:solidFill>
                <a:srgbClr val="1A1A2E"/>
              </a:solidFill>
              <a:latin typeface="Tahoma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dirty="0" err="1">
                <a:solidFill>
                  <a:srgbClr val="1A1A2E"/>
                </a:solidFill>
                <a:latin typeface="Tahoma"/>
              </a:rPr>
              <a:t>โหลด</a:t>
            </a:r>
            <a:r>
              <a:rPr dirty="0">
                <a:solidFill>
                  <a:srgbClr val="1A1A2E"/>
                </a:solidFill>
                <a:latin typeface="Tahoma"/>
              </a:rPr>
              <a:t>: </a:t>
            </a:r>
            <a:r>
              <a:rPr dirty="0" err="1">
                <a:solidFill>
                  <a:srgbClr val="1A1A2E"/>
                </a:solidFill>
                <a:latin typeface="Tahoma"/>
              </a:rPr>
              <a:t>ทุก</a:t>
            </a:r>
            <a:r>
              <a:rPr dirty="0">
                <a:solidFill>
                  <a:srgbClr val="1A1A2E"/>
                </a:solidFill>
                <a:latin typeface="Tahoma"/>
              </a:rPr>
              <a:t> 15 </a:t>
            </a:r>
            <a:r>
              <a:rPr dirty="0" err="1">
                <a:solidFill>
                  <a:srgbClr val="1A1A2E"/>
                </a:solidFill>
                <a:latin typeface="Tahoma"/>
              </a:rPr>
              <a:t>นาที</a:t>
            </a:r>
            <a:endParaRPr dirty="0">
              <a:solidFill>
                <a:srgbClr val="1A1A2E"/>
              </a:solidFill>
              <a:latin typeface="Tahoma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dirty="0" err="1">
                <a:solidFill>
                  <a:srgbClr val="1A1A2E"/>
                </a:solidFill>
                <a:latin typeface="Tahoma"/>
              </a:rPr>
              <a:t>ไม่สามารถรวมข้อมูลโดยตรงได้</a:t>
            </a:r>
            <a:r>
              <a:rPr dirty="0">
                <a:solidFill>
                  <a:srgbClr val="1A1A2E"/>
                </a:solidFill>
                <a:latin typeface="Tahoma"/>
              </a:rPr>
              <a:t> </a:t>
            </a:r>
            <a:r>
              <a:rPr dirty="0" err="1">
                <a:solidFill>
                  <a:srgbClr val="1A1A2E"/>
                </a:solidFill>
                <a:latin typeface="Tahoma"/>
              </a:rPr>
              <a:t>ต้องปรับความละเอียดให้เท่ากัน</a:t>
            </a:r>
            <a:endParaRPr dirty="0">
              <a:solidFill>
                <a:srgbClr val="1A1A2E"/>
              </a:solidFill>
              <a:latin typeface="Tahom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Tahoma"/>
              </a:defRPr>
            </a:pPr>
            <a:r>
              <a:t>ขั้นตอนการแก้ปัญหา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502920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dirty="0">
                <a:solidFill>
                  <a:srgbClr val="1A1A2E"/>
                </a:solidFill>
                <a:latin typeface="Tahoma"/>
              </a:rPr>
              <a:t>1. Resample </a:t>
            </a:r>
            <a:r>
              <a:rPr dirty="0" err="1">
                <a:solidFill>
                  <a:srgbClr val="1A1A2E"/>
                </a:solidFill>
                <a:latin typeface="Tahoma"/>
              </a:rPr>
              <a:t>ข้อมูลทั้งหมดเป็น</a:t>
            </a:r>
            <a:r>
              <a:rPr dirty="0">
                <a:solidFill>
                  <a:srgbClr val="1A1A2E"/>
                </a:solidFill>
                <a:latin typeface="Tahoma"/>
              </a:rPr>
              <a:t> 15 </a:t>
            </a:r>
            <a:r>
              <a:rPr dirty="0" err="1">
                <a:solidFill>
                  <a:srgbClr val="1A1A2E"/>
                </a:solidFill>
                <a:latin typeface="Tahoma"/>
              </a:rPr>
              <a:t>นาที</a:t>
            </a:r>
            <a:r>
              <a:rPr dirty="0">
                <a:solidFill>
                  <a:srgbClr val="1A1A2E"/>
                </a:solidFill>
                <a:latin typeface="Tahoma"/>
              </a:rPr>
              <a:t> (</a:t>
            </a:r>
            <a:r>
              <a:rPr dirty="0" err="1">
                <a:solidFill>
                  <a:srgbClr val="1A1A2E"/>
                </a:solidFill>
                <a:latin typeface="Tahoma"/>
              </a:rPr>
              <a:t>ใช้ค่าเฉลี่ย</a:t>
            </a:r>
            <a:r>
              <a:rPr dirty="0">
                <a:solidFill>
                  <a:srgbClr val="1A1A2E"/>
                </a:solidFill>
                <a:latin typeface="Tahoma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dirty="0">
                <a:solidFill>
                  <a:srgbClr val="1A1A2E"/>
                </a:solidFill>
                <a:latin typeface="Tahoma"/>
              </a:rPr>
              <a:t>2. </a:t>
            </a:r>
            <a:r>
              <a:rPr dirty="0" err="1">
                <a:solidFill>
                  <a:srgbClr val="1A1A2E"/>
                </a:solidFill>
                <a:latin typeface="Tahoma"/>
              </a:rPr>
              <a:t>รวม</a:t>
            </a:r>
            <a:r>
              <a:rPr dirty="0">
                <a:solidFill>
                  <a:srgbClr val="1A1A2E"/>
                </a:solidFill>
                <a:latin typeface="Tahoma"/>
              </a:rPr>
              <a:t> 4 </a:t>
            </a:r>
            <a:r>
              <a:rPr dirty="0" err="1">
                <a:solidFill>
                  <a:srgbClr val="1A1A2E"/>
                </a:solidFill>
                <a:latin typeface="Tahoma"/>
              </a:rPr>
              <a:t>ตัวแปร</a:t>
            </a:r>
            <a:r>
              <a:rPr dirty="0">
                <a:solidFill>
                  <a:srgbClr val="1A1A2E"/>
                </a:solidFill>
                <a:latin typeface="Tahoma"/>
              </a:rPr>
              <a:t> </a:t>
            </a:r>
            <a:r>
              <a:rPr dirty="0" err="1">
                <a:solidFill>
                  <a:srgbClr val="1A1A2E"/>
                </a:solidFill>
                <a:latin typeface="Tahoma"/>
              </a:rPr>
              <a:t>ด้วย</a:t>
            </a:r>
            <a:r>
              <a:rPr dirty="0">
                <a:solidFill>
                  <a:srgbClr val="1A1A2E"/>
                </a:solidFill>
                <a:latin typeface="Tahoma"/>
              </a:rPr>
              <a:t> Outer Join </a:t>
            </a:r>
            <a:r>
              <a:rPr dirty="0" err="1">
                <a:solidFill>
                  <a:srgbClr val="1A1A2E"/>
                </a:solidFill>
                <a:latin typeface="Tahoma"/>
              </a:rPr>
              <a:t>ตาม</a:t>
            </a:r>
            <a:r>
              <a:rPr dirty="0">
                <a:solidFill>
                  <a:srgbClr val="1A1A2E"/>
                </a:solidFill>
                <a:latin typeface="Tahoma"/>
              </a:rPr>
              <a:t> timestamp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dirty="0">
                <a:solidFill>
                  <a:srgbClr val="1A1A2E"/>
                </a:solidFill>
                <a:latin typeface="Tahoma"/>
              </a:rPr>
              <a:t>3. Forward-fill </a:t>
            </a:r>
            <a:r>
              <a:rPr dirty="0" err="1">
                <a:solidFill>
                  <a:srgbClr val="1A1A2E"/>
                </a:solidFill>
                <a:latin typeface="Tahoma"/>
              </a:rPr>
              <a:t>ช่องว่างเล็กๆ</a:t>
            </a:r>
            <a:r>
              <a:rPr dirty="0">
                <a:solidFill>
                  <a:srgbClr val="1A1A2E"/>
                </a:solidFill>
                <a:latin typeface="Tahoma"/>
              </a:rPr>
              <a:t> (</a:t>
            </a:r>
            <a:r>
              <a:rPr dirty="0" err="1">
                <a:solidFill>
                  <a:srgbClr val="1A1A2E"/>
                </a:solidFill>
                <a:latin typeface="Tahoma"/>
              </a:rPr>
              <a:t>ไม่เกิน</a:t>
            </a:r>
            <a:r>
              <a:rPr dirty="0">
                <a:solidFill>
                  <a:srgbClr val="1A1A2E"/>
                </a:solidFill>
                <a:latin typeface="Tahoma"/>
              </a:rPr>
              <a:t> 1 </a:t>
            </a:r>
            <a:r>
              <a:rPr dirty="0" err="1">
                <a:solidFill>
                  <a:srgbClr val="1A1A2E"/>
                </a:solidFill>
                <a:latin typeface="Tahoma"/>
              </a:rPr>
              <a:t>ชั่วโมง</a:t>
            </a:r>
            <a:r>
              <a:rPr dirty="0">
                <a:solidFill>
                  <a:srgbClr val="1A1A2E"/>
                </a:solidFill>
                <a:latin typeface="Tahoma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dirty="0">
                <a:solidFill>
                  <a:srgbClr val="1A1A2E"/>
                </a:solidFill>
                <a:latin typeface="Tahoma"/>
              </a:rPr>
              <a:t>4. Interpolation </a:t>
            </a:r>
            <a:r>
              <a:rPr dirty="0" err="1">
                <a:solidFill>
                  <a:srgbClr val="1A1A2E"/>
                </a:solidFill>
                <a:latin typeface="Tahoma"/>
              </a:rPr>
              <a:t>ตามเวลาสำหรับช่องว่างที่เหลือ</a:t>
            </a:r>
            <a:endParaRPr dirty="0">
              <a:solidFill>
                <a:srgbClr val="1A1A2E"/>
              </a:solidFill>
              <a:latin typeface="Tahoma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dirty="0">
                <a:solidFill>
                  <a:srgbClr val="1A1A2E"/>
                </a:solidFill>
                <a:latin typeface="Tahoma"/>
              </a:rPr>
              <a:t>5. </a:t>
            </a:r>
            <a:r>
              <a:rPr dirty="0" err="1">
                <a:solidFill>
                  <a:srgbClr val="1A1A2E"/>
                </a:solidFill>
                <a:latin typeface="Tahoma"/>
              </a:rPr>
              <a:t>ลบแถวที่มีช่องว่างขนาดใหญ่ไม่สามารถกู้คืนได้</a:t>
            </a:r>
            <a:endParaRPr dirty="0">
              <a:solidFill>
                <a:srgbClr val="1A1A2E"/>
              </a:solidFill>
              <a:latin typeface="Tahoma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7160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ขั้นตอน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จำนวนแถว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หมายเหตุ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หลังรวมข้อมูล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17,664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Outer join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หลังทำความสะอาด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15,013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ข้อมูลพร้อมใช้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ถูกลบ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2,651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สูญเสีย 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8" descr="eda_cell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474720"/>
            <a:ext cx="5303520" cy="23643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EDA: การวิเคราะห์สหสัมพันธ์ (Correlation)</a:t>
            </a:r>
          </a:p>
        </p:txBody>
      </p:sp>
      <p:pic>
        <p:nvPicPr>
          <p:cNvPr id="4" name="Picture 3" descr="eda_cell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029200" cy="449696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371600"/>
          <a:ext cx="5760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ฟีเจอร์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สหสัมพันธ์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ระดับ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ความเข้มแสง (W/m²)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0.901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สูงมาก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อุณหภูมิ (°C)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0.564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ปานกลาง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โหลด (kW)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ไม่มีนัยสำคัญ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32004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Tahoma"/>
              </a:defRPr>
            </a:pPr>
            <a:r>
              <a:t>ข้อค้นพบสำคัญ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36576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A1A2E"/>
                </a:solidFill>
                <a:latin typeface="Tahoma"/>
              </a:rPr>
              <a:t>ความเข้มแสง: </a:t>
            </a:r>
            <a:r>
              <a:rPr sz="1600">
                <a:solidFill>
                  <a:srgbClr val="1A1A2E"/>
                </a:solidFill>
                <a:latin typeface="Tahoma"/>
              </a:rPr>
              <a:t>r=0.90 - ตัวขับเคลื่อนหลักของการผลิตไฟฟ้า (ตามหลักฟิสิกส์)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A1A2E"/>
                </a:solidFill>
                <a:latin typeface="Tahoma"/>
              </a:rPr>
              <a:t>อุณหภูมิ: </a:t>
            </a:r>
            <a:r>
              <a:rPr sz="1600">
                <a:solidFill>
                  <a:srgbClr val="1A1A2E"/>
                </a:solidFill>
                <a:latin typeface="Tahoma"/>
              </a:rPr>
              <a:t>r=0.56 - สัมพันธ์ปานกลาง เพราะแดดจัดมักร้อนด้วย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A1A2E"/>
                </a:solidFill>
                <a:latin typeface="Tahoma"/>
              </a:rPr>
              <a:t>โหลด: </a:t>
            </a:r>
            <a:r>
              <a:rPr sz="1600">
                <a:solidFill>
                  <a:srgbClr val="1A1A2E"/>
                </a:solidFill>
                <a:latin typeface="Tahoma"/>
              </a:rPr>
              <a:t>r=0.03 - รูปแบบการใช้ไฟแยกอิสระจากการผลิต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A1A2E"/>
                </a:solidFill>
                <a:latin typeface="Tahoma"/>
              </a:rPr>
              <a:t>เลือกฟีเจอร์สำหรับโมเดล: </a:t>
            </a:r>
            <a:r>
              <a:rPr sz="1600">
                <a:solidFill>
                  <a:srgbClr val="1A1A2E"/>
                </a:solidFill>
                <a:latin typeface="Tahoma"/>
              </a:rPr>
              <a:t>ความเข้มแสง + อุณหภูมิ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EDA: ภาพรวมอนุกรมเวลา (6 เดือน)</a:t>
            </a:r>
          </a:p>
        </p:txBody>
      </p:sp>
      <p:pic>
        <p:nvPicPr>
          <p:cNvPr id="4" name="Picture 3" descr="eda_cell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10373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EDA: รูปแบบรายวัน และ การกระจายข้อมูล</a:t>
            </a:r>
          </a:p>
        </p:txBody>
      </p:sp>
      <p:pic>
        <p:nvPicPr>
          <p:cNvPr id="4" name="Picture 3" descr="eda_cell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852160" cy="4152327"/>
          </a:xfrm>
          <a:prstGeom prst="rect">
            <a:avLst/>
          </a:prstGeom>
        </p:spPr>
      </p:pic>
      <p:pic>
        <p:nvPicPr>
          <p:cNvPr id="5" name="Picture 4" descr="eda_cell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88720"/>
            <a:ext cx="5943600" cy="16391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EDA: ข้อสังเกตสำคัญ</a:t>
            </a:r>
          </a:p>
        </p:txBody>
      </p:sp>
      <p:pic>
        <p:nvPicPr>
          <p:cNvPr id="4" name="Picture 3" descr="eda_cell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486400" cy="1918654"/>
          </a:xfrm>
          <a:prstGeom prst="rect">
            <a:avLst/>
          </a:prstGeom>
        </p:spPr>
      </p:pic>
      <p:pic>
        <p:nvPicPr>
          <p:cNvPr id="5" name="Picture 4" descr="eda_cell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840480"/>
            <a:ext cx="5486400" cy="167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Tahoma"/>
              </a:rPr>
              <a:t>พบ 1,655 จุดข้อมูล: มีการผลิตไฟฟ้าทั้งที่ไม่มีแสงแดด (อาจเป็นปัญหาเซ็นเซอร์)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Tahoma"/>
              </a:rPr>
              <a:t>พบ 0 จุดข้อมูล: แสงแดดจัดแต่ไม่มีการผลิต (ไม่พบความเสียหายอุปกรณ์ชัดเจน)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Tahoma"/>
              </a:rPr>
              <a:t>ประสิทธิภาพการผลิต (ช่วงกลางวัน): ค่าเฉลี่ย = 0.71 kW/(W/m²)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Tahoma"/>
              </a:rPr>
              <a:t>พลังงานแสงอาทิตย์เกินโหลดเพียง 10.8% ของเวลา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Tahoma"/>
              </a:rPr>
              <a:t>ไซต์พึ่งพาไฟฟ้าจากกริด 89.2% ของเวลา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Tahoma"/>
              </a:rPr>
              <a:t>รูปแบบระฆังคว่ำชัดเจนสำหรับการผลิต/ความเข้มแสงรายวัน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Tahoma"/>
              </a:rPr>
              <a:t>เห็นการเปลี่ยนแปลงตามฤดูกาลตลอด มิ.ย. - ธ.ค.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Tahoma"/>
              </a:defRPr>
            </a:pPr>
            <a:r>
              <a:t>การฝึกสอนโมเดล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Tahoma"/>
              </a:defRPr>
            </a:pPr>
            <a:r>
              <a:t>แนวทาง Machine Learning และ Deep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246120"/>
            <a:ext cx="45720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ภาพรวมวิธีการ (Methodology)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Tahoma"/>
              </a:defRPr>
            </a:pPr>
            <a:r>
              <a:t>การแบ่งข้อมูล Train/Test (ตามลำดับเวลา ไม่สุ่ม)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5029200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ชุดข้อมูล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จำนวนแถว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ช่วงเวลา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สัดส่วน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10,509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1 มิ.ย. - 6 ต.ค. 2568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70%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4,504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6 ต.ค. - 1 ธ.ค. 2568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 descr="train_cell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943600" cy="14587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Tahoma"/>
              </a:defRPr>
            </a:pPr>
            <a:r>
              <a:t>โมเดลที่ฝึกทั้งหมด 6 โมเดล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176621"/>
              </p:ext>
            </p:extLst>
          </p:nvPr>
        </p:nvGraphicFramePr>
        <p:xfrm>
          <a:off x="548640" y="3931920"/>
          <a:ext cx="785241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9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8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8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rPr sz="1600"/>
                        <a:t>#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rPr sz="1600"/>
                        <a:t>โมเดล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rPr sz="1600"/>
                        <a:t>ประเภท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rPr sz="1600"/>
                        <a:t>แนวทาง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Isolation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ML, ไม่มีผู้สอน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ค้นหาจุดข้อมูลที่แยกตัวออกจากกลุ่มได้ง่าย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2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Random Forest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ML, มีผู้สอน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ทำนายการผลิต; ค่าผิดพลาดมาก = ความผิดปกติ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DL, อนุกรมเวลา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 dirty="0" err="1"/>
                        <a:t>เรียนรู้รูปแบบเวลาจากหน้าต่าง</a:t>
                      </a:r>
                      <a:r>
                        <a:rPr sz="1600" dirty="0"/>
                        <a:t> 1 </a:t>
                      </a:r>
                      <a:r>
                        <a:rPr sz="1600" dirty="0" err="1"/>
                        <a:t>ชั่วโมง</a:t>
                      </a:r>
                      <a:endParaRPr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4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CNN-LSTM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DL, ลูกผสม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CNN ดึงฟีเจอร์เฉพาะที่ + LSTM จับพลวัตเวลา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LSTM Autoencoder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DL, การสร้างใหม่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บีบอัดและสร้างรูปแบบปกติใหม่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6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Transformer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/>
                        <a:t>DL, Self-Attention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600" dirty="0" err="1"/>
                        <a:t>กลไก</a:t>
                      </a:r>
                      <a:r>
                        <a:rPr sz="1600" dirty="0"/>
                        <a:t> Attention </a:t>
                      </a:r>
                      <a:r>
                        <a:rPr sz="1600" dirty="0" err="1"/>
                        <a:t>จับความสัมพันธ์ข้ามทุก</a:t>
                      </a:r>
                      <a:r>
                        <a:rPr sz="1600" dirty="0"/>
                        <a:t> timestep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สถาปัตยกรรมโมเดล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Tahoma"/>
              </a:defRPr>
            </a:pPr>
            <a:r>
              <a:t>PyTorch  |  Input: 4 timesteps x 3 features  |  Output: 3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432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Tahoma"/>
              </a:defRPr>
            </a:pPr>
            <a:r>
              <a:rPr sz="1400"/>
              <a:t>LSTM (53,123 params)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Tahoma"/>
              </a:rPr>
              <a:t>LSTM 2 ชั้น (hidden=64)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Tahoma"/>
              </a:rPr>
              <a:t>Dropout 0.2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Tahoma"/>
              </a:rPr>
              <a:t>FC: 64 -&gt; 32 -&gt; 3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Tahoma"/>
              </a:rPr>
              <a:t>ใช้ output timestep สุดท้าย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280160"/>
            <a:ext cx="27432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1325880"/>
            <a:ext cx="28651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Tahoma"/>
              </a:defRPr>
            </a:pPr>
            <a:r>
              <a:rPr sz="1400" dirty="0"/>
              <a:t>CNN-LSTM (8,819 params)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916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Tahoma"/>
              </a:rPr>
              <a:t>Conv1D: 3-&gt;32-&gt;16 filters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Tahoma"/>
              </a:rPr>
              <a:t>LSTM 1 ชั้น (hidden=32)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Tahoma"/>
              </a:rPr>
              <a:t>FC: 32 -&gt; 32 -&gt; 3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Tahoma"/>
              </a:rPr>
              <a:t>ประหยัดพารามิเตอร์ที่สุด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27432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53"/>
                </a:solidFill>
                <a:latin typeface="Tahoma"/>
              </a:defRPr>
            </a:pPr>
            <a:r>
              <a:rPr sz="1400" dirty="0"/>
              <a:t>LSTM Autoencoder (16,611)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Tahoma"/>
              </a:rPr>
              <a:t>Encoder: LSTM 3-&gt;32-&gt;16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Tahoma"/>
              </a:rPr>
              <a:t>Bottleneck: 16 มิติ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Tahoma"/>
              </a:rPr>
              <a:t>Decoder: LSTM 16-&gt;32-&gt;3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Tahoma"/>
              </a:rPr>
              <a:t>สร้างลำดับ input ใหม่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280160"/>
            <a:ext cx="27432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0" y="1325880"/>
            <a:ext cx="2956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4040"/>
                </a:solidFill>
                <a:latin typeface="Tahoma"/>
              </a:defRPr>
            </a:pPr>
            <a:r>
              <a:rPr sz="1400" dirty="0"/>
              <a:t>Transformer (~37K params)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6916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Tahoma"/>
              </a:rPr>
              <a:t>Input proj + Pos Encoding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Tahoma"/>
              </a:rPr>
              <a:t>Encoder 2 ชั้น, 2 heads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Tahoma"/>
              </a:rPr>
              <a:t>d_model=32, ff_dim=64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Tahoma"/>
              </a:rPr>
              <a:t>Global avg pool + FC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Tahoma"/>
              </a:defRPr>
            </a:pPr>
            <a:r>
              <a:t>การตั้งค่าการฝึกสอน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448056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พารามิเตอร์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ค่า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พารามิเตอร์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ค่า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Optimizer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Adam (lr=0.001)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Batch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LR Scheduler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ReduceLROnPlateau (factor=0.5)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Early Stopping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Patience=15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Loss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Gradient Clipping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Max norm=1.0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Scaling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MinMaxScaler (0-1)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GPU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NVIDIA RTX 3060 Ti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วิธีการตรวจจับความผิดปกติ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Tahoma"/>
              </a:defRPr>
            </a:pPr>
            <a:r>
              <a:t>กฎ 3-Sigma บนค่าผิดพลาดจากการทำนาย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D6"/>
                </a:solidFill>
                <a:latin typeface="Tahoma"/>
              </a:defRPr>
            </a:pPr>
            <a:r>
              <a:rPr dirty="0" err="1"/>
              <a:t>แบบทำนาย</a:t>
            </a:r>
            <a:r>
              <a:rPr dirty="0"/>
              <a:t> (RF, LSTM, CNN-LSTM, Transformer)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Tahoma"/>
              </a:rPr>
              <a:t>1. </a:t>
            </a:r>
            <a:r>
              <a:rPr sz="1600" dirty="0" err="1">
                <a:solidFill>
                  <a:srgbClr val="1A1A2E"/>
                </a:solidFill>
                <a:latin typeface="Tahoma"/>
              </a:rPr>
              <a:t>ค่าผิดพลาด</a:t>
            </a:r>
            <a:r>
              <a:rPr sz="1600" dirty="0">
                <a:solidFill>
                  <a:srgbClr val="1A1A2E"/>
                </a:solidFill>
                <a:latin typeface="Tahoma"/>
              </a:rPr>
              <a:t> = |</a:t>
            </a:r>
            <a:r>
              <a:rPr sz="1600" dirty="0" err="1">
                <a:solidFill>
                  <a:srgbClr val="1A1A2E"/>
                </a:solidFill>
                <a:latin typeface="Tahoma"/>
              </a:rPr>
              <a:t>ค่าจริง</a:t>
            </a:r>
            <a:r>
              <a:rPr sz="1600" dirty="0">
                <a:solidFill>
                  <a:srgbClr val="1A1A2E"/>
                </a:solidFill>
                <a:latin typeface="Tahoma"/>
              </a:rPr>
              <a:t> - </a:t>
            </a:r>
            <a:r>
              <a:rPr sz="1600" dirty="0" err="1">
                <a:solidFill>
                  <a:srgbClr val="1A1A2E"/>
                </a:solidFill>
                <a:latin typeface="Tahoma"/>
              </a:rPr>
              <a:t>ค่าทำนาย</a:t>
            </a:r>
            <a:r>
              <a:rPr sz="1600" dirty="0">
                <a:solidFill>
                  <a:srgbClr val="1A1A2E"/>
                </a:solidFill>
                <a:latin typeface="Tahoma"/>
              </a:rPr>
              <a:t>|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Tahoma"/>
              </a:rPr>
              <a:t>2. </a:t>
            </a:r>
            <a:r>
              <a:rPr sz="1600" dirty="0" err="1">
                <a:solidFill>
                  <a:srgbClr val="1A1A2E"/>
                </a:solidFill>
                <a:latin typeface="Tahoma"/>
              </a:rPr>
              <a:t>เกณฑ์</a:t>
            </a:r>
            <a:r>
              <a:rPr sz="1600" dirty="0">
                <a:solidFill>
                  <a:srgbClr val="1A1A2E"/>
                </a:solidFill>
                <a:latin typeface="Tahoma"/>
              </a:rPr>
              <a:t> = </a:t>
            </a:r>
            <a:r>
              <a:rPr sz="1600" dirty="0" err="1">
                <a:solidFill>
                  <a:srgbClr val="1A1A2E"/>
                </a:solidFill>
                <a:latin typeface="Tahoma"/>
              </a:rPr>
              <a:t>ค่าเฉลี่ย</a:t>
            </a:r>
            <a:r>
              <a:rPr sz="1600" dirty="0">
                <a:solidFill>
                  <a:srgbClr val="1A1A2E"/>
                </a:solidFill>
                <a:latin typeface="Tahoma"/>
              </a:rPr>
              <a:t>(</a:t>
            </a:r>
            <a:r>
              <a:rPr sz="1600" dirty="0" err="1">
                <a:solidFill>
                  <a:srgbClr val="1A1A2E"/>
                </a:solidFill>
                <a:latin typeface="Tahoma"/>
              </a:rPr>
              <a:t>ผิดพลาด</a:t>
            </a:r>
            <a:r>
              <a:rPr sz="1600" dirty="0">
                <a:solidFill>
                  <a:srgbClr val="1A1A2E"/>
                </a:solidFill>
                <a:latin typeface="Tahoma"/>
              </a:rPr>
              <a:t>) + 3 x </a:t>
            </a:r>
            <a:r>
              <a:rPr sz="1600" dirty="0" err="1">
                <a:solidFill>
                  <a:srgbClr val="1A1A2E"/>
                </a:solidFill>
                <a:latin typeface="Tahoma"/>
              </a:rPr>
              <a:t>ส่วนเบี่ยงเบน</a:t>
            </a:r>
            <a:r>
              <a:rPr sz="1600" dirty="0">
                <a:solidFill>
                  <a:srgbClr val="1A1A2E"/>
                </a:solidFill>
                <a:latin typeface="Tahoma"/>
              </a:rPr>
              <a:t>(</a:t>
            </a:r>
            <a:r>
              <a:rPr sz="1600" dirty="0" err="1">
                <a:solidFill>
                  <a:srgbClr val="1A1A2E"/>
                </a:solidFill>
                <a:latin typeface="Tahoma"/>
              </a:rPr>
              <a:t>ผิดพลาด</a:t>
            </a:r>
            <a:r>
              <a:rPr sz="1600" dirty="0">
                <a:solidFill>
                  <a:srgbClr val="1A1A2E"/>
                </a:solidFill>
                <a:latin typeface="Tahoma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Tahoma"/>
              </a:rPr>
              <a:t>3. </a:t>
            </a:r>
            <a:r>
              <a:rPr sz="1600" dirty="0" err="1">
                <a:solidFill>
                  <a:srgbClr val="1A1A2E"/>
                </a:solidFill>
                <a:latin typeface="Tahoma"/>
              </a:rPr>
              <a:t>ถ้าค่าผิดพลาด</a:t>
            </a:r>
            <a:r>
              <a:rPr sz="1600" dirty="0">
                <a:solidFill>
                  <a:srgbClr val="1A1A2E"/>
                </a:solidFill>
                <a:latin typeface="Tahoma"/>
              </a:rPr>
              <a:t> &gt; </a:t>
            </a:r>
            <a:r>
              <a:rPr sz="1600" dirty="0" err="1">
                <a:solidFill>
                  <a:srgbClr val="1A1A2E"/>
                </a:solidFill>
                <a:latin typeface="Tahoma"/>
              </a:rPr>
              <a:t>เกณฑ์</a:t>
            </a:r>
            <a:r>
              <a:rPr sz="1600" dirty="0">
                <a:solidFill>
                  <a:srgbClr val="1A1A2E"/>
                </a:solidFill>
                <a:latin typeface="Tahoma"/>
              </a:rPr>
              <a:t>  --&gt;  </a:t>
            </a:r>
            <a:r>
              <a:rPr sz="1600" dirty="0" err="1">
                <a:solidFill>
                  <a:srgbClr val="1A1A2E"/>
                </a:solidFill>
                <a:latin typeface="Tahoma"/>
              </a:rPr>
              <a:t>ผิดปกติ</a:t>
            </a:r>
            <a:endParaRPr sz="1600" dirty="0">
              <a:solidFill>
                <a:srgbClr val="1A1A2E"/>
              </a:solidFill>
              <a:latin typeface="Tahom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5760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C853"/>
                </a:solidFill>
                <a:latin typeface="Tahoma"/>
              </a:defRPr>
            </a:pPr>
            <a:r>
              <a:rPr dirty="0" err="1"/>
              <a:t>แบบสร้างใหม่</a:t>
            </a:r>
            <a:r>
              <a:rPr dirty="0"/>
              <a:t> (LSTM Autoencoder)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Tahoma"/>
              </a:rPr>
              <a:t>1. สร้างลำดับ input ใหม่ผ่าน bottleneck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Tahoma"/>
              </a:rPr>
              <a:t>2. ค่าผิดพลาด = |ลำดับจริง - ลำดับที่สร้างใหม่|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Tahoma"/>
              </a:rPr>
              <a:t>3. เกณฑ์จากข้อมูล training (3-sigma)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Tahoma"/>
              </a:rPr>
              <a:t>ค่าผิดพลาดสูง = รูปแบบที่โมเดลไม่เคยเรียนรู้ = ผิดปกติ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31920"/>
            <a:ext cx="111556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Tahoma"/>
              </a:defRPr>
            </a:pPr>
            <a:r>
              <a:t>ทำไมต้อง 3-Sigma?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Tahoma"/>
              </a:rPr>
              <a:t>ในการแจกแจงปกติ 99.7% ของข้อมูลอยู่ภายใน 3 ส่วนเบี่ยงเบนมาตรฐาน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Tahoma"/>
              </a:rPr>
              <a:t>จุดที่เกิน 3-sigma มีความหายาก (0.3%) และน่าจะเป็นความผิดปกติจริง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Tahoma"/>
              </a:rPr>
              <a:t>ปรับได้: 2-sigma = ไวกว่า (ตรวจพบมากขึ้น อาจมี false positive มากขึ้น) | 4-sigma = อนุรักษ์นิยมกว่า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Tahoma"/>
              </a:rPr>
              <a:t>ใช้เกณฑ์เดียวกันทุกโมเดลเพื่อการเปรียบเทียบที่เป็นธรรม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Tahoma"/>
              </a:defRPr>
            </a:pPr>
            <a:r>
              <a:t>ผลลัพธ์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Tahoma"/>
              </a:defRPr>
            </a:pPr>
            <a:r>
              <a:t>ประสิทธิภาพการทำนาย และ การตรวจจับความผิดปกติ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246120"/>
            <a:ext cx="45720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กราฟ Training Loss</a:t>
            </a:r>
          </a:p>
        </p:txBody>
      </p:sp>
      <p:pic>
        <p:nvPicPr>
          <p:cNvPr id="4" name="Picture 3" descr="train_cell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852160" cy="2307727"/>
          </a:xfrm>
          <a:prstGeom prst="rect">
            <a:avLst/>
          </a:prstGeom>
        </p:spPr>
      </p:pic>
      <p:pic>
        <p:nvPicPr>
          <p:cNvPr id="5" name="Picture 4" descr="train_cell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5852160" cy="2307727"/>
          </a:xfrm>
          <a:prstGeom prst="rect">
            <a:avLst/>
          </a:prstGeom>
        </p:spPr>
      </p:pic>
      <p:pic>
        <p:nvPicPr>
          <p:cNvPr id="6" name="Picture 5" descr="train_cell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749039"/>
            <a:ext cx="5852160" cy="2305396"/>
          </a:xfrm>
          <a:prstGeom prst="rect">
            <a:avLst/>
          </a:prstGeom>
        </p:spPr>
      </p:pic>
      <p:pic>
        <p:nvPicPr>
          <p:cNvPr id="7" name="Picture 6" descr="train_cell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749039"/>
            <a:ext cx="5852160" cy="230772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ผลการทำนาย (Test Set)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7315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โมเดล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RMSE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MAE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R²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พารามิเตอร์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83.37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34.80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0.6346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LSTM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32.46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15.43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0.9445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53,123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CNN-LSTM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32.87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15.45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0.9431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8,819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Transformer *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32.05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13.76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0.9459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~37K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Tahoma"/>
              </a:defRPr>
            </a:pPr>
            <a:r>
              <a:t>* โมเดลที่ดีที่สุด</a:t>
            </a:r>
          </a:p>
        </p:txBody>
      </p:sp>
      <p:pic>
        <p:nvPicPr>
          <p:cNvPr id="6" name="Picture 5" descr="train_cell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86536"/>
            <a:ext cx="9757410" cy="303959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ค่าทำนาย vs ค่าจริง: LSTM และ CNN-LSTM</a:t>
            </a:r>
          </a:p>
        </p:txBody>
      </p:sp>
      <p:pic>
        <p:nvPicPr>
          <p:cNvPr id="4" name="Picture 3" descr="train_cell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852160" cy="4378992"/>
          </a:xfrm>
          <a:prstGeom prst="rect">
            <a:avLst/>
          </a:prstGeom>
        </p:spPr>
      </p:pic>
      <p:pic>
        <p:nvPicPr>
          <p:cNvPr id="5" name="Picture 4" descr="train_cell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5852160" cy="43789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ค่าทำนาย vs ค่าจริง: Transformer (โมเดลดีที่สุด)</a:t>
            </a:r>
          </a:p>
        </p:txBody>
      </p:sp>
      <p:pic>
        <p:nvPicPr>
          <p:cNvPr id="4" name="Picture 3" descr="train_cell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1097280"/>
            <a:ext cx="7600950" cy="568755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ผลการตรวจจับความผิดปกติ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993876"/>
              </p:ext>
            </p:extLst>
          </p:nvPr>
        </p:nvGraphicFramePr>
        <p:xfrm>
          <a:off x="548640" y="1371600"/>
          <a:ext cx="520471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7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โมเดล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วิธีการ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ผิดปกติ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% ของ Test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Isolation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Isolation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244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5.4%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3-sigma MAE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159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3.5%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3-sigma 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2.3%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CNN-LSTM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3-sigma MAE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2.1%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LSTM Autoencoder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3-sigma recon.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265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5.9%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Transformer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3-sigma MAE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dirty="0"/>
                        <a:t>2.2%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 descr="train_cell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646" y="1371600"/>
            <a:ext cx="5727129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2062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A1A2E"/>
                </a:solidFill>
                <a:latin typeface="Tahoma"/>
              </a:rPr>
              <a:t>อนุรักษ์นิยมที่สุด: </a:t>
            </a:r>
            <a:r>
              <a:rPr sz="1600">
                <a:solidFill>
                  <a:srgbClr val="1A1A2E"/>
                </a:solidFill>
                <a:latin typeface="Tahoma"/>
              </a:rPr>
              <a:t>CNN-LSTM (94 จุด, 2.1%)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A1A2E"/>
                </a:solidFill>
                <a:latin typeface="Tahoma"/>
              </a:rPr>
              <a:t>ไวที่สุด: </a:t>
            </a:r>
            <a:r>
              <a:rPr sz="1600">
                <a:solidFill>
                  <a:srgbClr val="1A1A2E"/>
                </a:solidFill>
                <a:latin typeface="Tahoma"/>
              </a:rPr>
              <a:t>LSTM Autoencoder (265 จุด, 5.9%) - แบบสร้างใหม่จับความเบี่ยงเบนละเอียดกว่า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Tahoma"/>
              </a:rPr>
              <a:t>โมเดล DL แบบทำนาย ลู่เข้าที่ ~2.1-2.3% - สอดคล้องและเชื่อถือได้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Tahoma"/>
              </a:rPr>
              <a:t>วิธี Unsupervised (IF, AE) ตรวจพบมากกว่า แต่อาจมี false positive มากขึ้น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การแสดงผลความผิดปกติ: โมเดล ML</a:t>
            </a:r>
          </a:p>
        </p:txBody>
      </p:sp>
      <p:pic>
        <p:nvPicPr>
          <p:cNvPr id="4" name="Picture 3" descr="train_cell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11127264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237ED-CC22-FFFF-48BC-952B89F0C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D408E9-C9B8-C156-85F7-2E1C73BF2B03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4B0463-0005-5B03-5247-57CF94F15D26}"/>
              </a:ext>
            </a:extLst>
          </p:cNvPr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การแสดงผลความผิดปกติ: โมเดล ML</a:t>
            </a:r>
          </a:p>
        </p:txBody>
      </p:sp>
      <p:pic>
        <p:nvPicPr>
          <p:cNvPr id="5" name="Picture 4" descr="train_cell19.png">
            <a:extLst>
              <a:ext uri="{FF2B5EF4-FFF2-40B4-BE49-F238E27FC236}">
                <a16:creationId xmlns:a16="http://schemas.microsoft.com/office/drawing/2014/main" id="{75319612-DEAA-33CC-88B8-E7C9F0572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" y="1188720"/>
            <a:ext cx="7503795" cy="561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589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การแสดงผลความผิดปกติ: LSTM Autoencoder</a:t>
            </a:r>
          </a:p>
        </p:txBody>
      </p:sp>
      <p:pic>
        <p:nvPicPr>
          <p:cNvPr id="4" name="Picture 3" descr="train_cell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54553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การตรวจจับแบบ Ensemble (Majority Vote)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736522"/>
              </p:ext>
            </p:extLst>
          </p:nvPr>
        </p:nvGraphicFramePr>
        <p:xfrm>
          <a:off x="548640" y="1371600"/>
          <a:ext cx="354234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ระดับความเห็นพ้อง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จำนวนจุด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%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0 โมเดล (ปกติ)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3,939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87.5%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1 โมเดล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311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6.9%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2 โมเดล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119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2.6%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3 โมเดล (ผิดปกติ)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2.5%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4 โมเดล (ผิดปกติ)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0.3%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5 โมเดล (ผิดปกติ)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0.07%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6 โมเดล (ผิดปกติ)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dirty="0"/>
                        <a:t>0.02%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4389120"/>
            <a:ext cx="4375785" cy="8686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4480560"/>
            <a:ext cx="42691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Tahoma"/>
              </a:defRPr>
            </a:pPr>
            <a:r>
              <a:t>ผิดปกติรวม Ensemble: 131 จุด (2.9%)</a:t>
            </a:r>
            <a:br/>
            <a:r>
              <a:t>กฎ: ผิดปกติเมื่อ &gt;= 3 ใน 6 โมเดลเห็นพ้อง</a:t>
            </a:r>
          </a:p>
        </p:txBody>
      </p:sp>
      <p:pic>
        <p:nvPicPr>
          <p:cNvPr id="7" name="Picture 6" descr="train_cell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39" y="1234440"/>
            <a:ext cx="6464225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ความผิดปกติเหล่านี้หมายถึงอะไร?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250139"/>
              </p:ext>
            </p:extLst>
          </p:nvPr>
        </p:nvGraphicFramePr>
        <p:xfrm>
          <a:off x="548640" y="1371600"/>
          <a:ext cx="899890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4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rPr sz="1800" dirty="0" err="1"/>
                        <a:t>รูปแบบความผิดปกติ</a:t>
                      </a:r>
                      <a:endParaRPr sz="1800" dirty="0"/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rPr sz="1800"/>
                        <a:t>สาเหตุที่เป็นไปได้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rPr sz="1800"/>
                        <a:t>สิ่งที่ต้องดำเนินการ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แสงแดดจัด + ผลิตไฟน้อย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แผงโซลาร์เสีย, อินเวอร์เตอร์ขัดข้อง, เงาบัง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ตรวจสอบแผงและอินเวอร์เตอร์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การผลิตตกฮวบกะทันหัน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อุปกรณ์ตัด, การเชื่อมต่อกริดขาด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ตรวจเบรกเกอร์และการเชื่อมต่อกริด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ผลิตไฟทั้งที่ไม่มีแสงแดด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เซ็นเซอร์ทำงานผิดปกติ, ข้อผิดพลาดในการบันทึกข้อมูล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สอบเทียบเซ็นเซอร์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ประสิทธิภาพลดลงอย่างค่อยเป็นค่อยไป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แผงโซลาร์เสื่อมสภาพ, ฝุ่นสะสม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กำหนดการทำความสะอาด/บำรุงรักษา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กำลังผลิตพุ่งผิดปกติ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เซ็นเซอร์เลื่อนค่า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 dirty="0" err="1"/>
                        <a:t>ตรวจสอบค่าเซ็นเซอร์</a:t>
                      </a:r>
                      <a:endParaRPr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77190" y="3749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Tahoma"/>
              </a:defRPr>
            </a:pPr>
            <a:r>
              <a:rPr dirty="0" err="1"/>
              <a:t>ผลกระทบเชิงปฏิบัติ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09447" y="4223385"/>
            <a:ext cx="109728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dirty="0" err="1">
                <a:solidFill>
                  <a:srgbClr val="1A1A2E"/>
                </a:solidFill>
                <a:latin typeface="Tahoma"/>
              </a:rPr>
              <a:t>ตรวจพบ</a:t>
            </a:r>
            <a:r>
              <a:rPr sz="2000" dirty="0">
                <a:solidFill>
                  <a:srgbClr val="1A1A2E"/>
                </a:solidFill>
                <a:latin typeface="Tahoma"/>
              </a:rPr>
              <a:t> 131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จุดเวลาที่ถูกตั้งค่าสถานะ</a:t>
            </a:r>
            <a:r>
              <a:rPr sz="2000" dirty="0">
                <a:solidFill>
                  <a:srgbClr val="1A1A2E"/>
                </a:solidFill>
                <a:latin typeface="Tahoma"/>
              </a:rPr>
              <a:t>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ใน</a:t>
            </a:r>
            <a:r>
              <a:rPr sz="2000" dirty="0">
                <a:solidFill>
                  <a:srgbClr val="1A1A2E"/>
                </a:solidFill>
                <a:latin typeface="Tahoma"/>
              </a:rPr>
              <a:t> ~2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เดือนของข้อมูลทดสอบ</a:t>
            </a:r>
            <a:r>
              <a:rPr sz="2000" dirty="0">
                <a:solidFill>
                  <a:srgbClr val="1A1A2E"/>
                </a:solidFill>
                <a:latin typeface="Tahoma"/>
              </a:rPr>
              <a:t> (ต.ค.-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ธ.ค</a:t>
            </a:r>
            <a:r>
              <a:rPr sz="2000" dirty="0">
                <a:solidFill>
                  <a:srgbClr val="1A1A2E"/>
                </a:solidFill>
                <a:latin typeface="Tahoma"/>
              </a:rPr>
              <a:t>. 2568)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dirty="0" err="1">
                <a:solidFill>
                  <a:srgbClr val="1A1A2E"/>
                </a:solidFill>
                <a:latin typeface="Tahoma"/>
              </a:rPr>
              <a:t>แต่ละจุดแทนหน้าต่าง</a:t>
            </a:r>
            <a:r>
              <a:rPr sz="2000" dirty="0">
                <a:solidFill>
                  <a:srgbClr val="1A1A2E"/>
                </a:solidFill>
                <a:latin typeface="Tahoma"/>
              </a:rPr>
              <a:t> 15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นาที</a:t>
            </a:r>
            <a:r>
              <a:rPr sz="2000" dirty="0">
                <a:solidFill>
                  <a:srgbClr val="1A1A2E"/>
                </a:solidFill>
                <a:latin typeface="Tahoma"/>
              </a:rPr>
              <a:t>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ที่ระบบทำงานผิดปกติ</a:t>
            </a:r>
            <a:endParaRPr sz="2000" dirty="0">
              <a:solidFill>
                <a:srgbClr val="1A1A2E"/>
              </a:solidFill>
              <a:latin typeface="Tahoma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dirty="0" err="1">
                <a:solidFill>
                  <a:srgbClr val="1A1A2E"/>
                </a:solidFill>
                <a:latin typeface="Tahoma"/>
              </a:rPr>
              <a:t>ทีมปฏิบัติการสามารถตรวจสอบกลุ่มความผิดปกติเพื่อวิเคราะห์สาเหตุ</a:t>
            </a:r>
            <a:endParaRPr sz="2000" dirty="0">
              <a:solidFill>
                <a:srgbClr val="1A1A2E"/>
              </a:solidFill>
              <a:latin typeface="Tahoma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dirty="0" err="1">
                <a:solidFill>
                  <a:srgbClr val="1A1A2E"/>
                </a:solidFill>
                <a:latin typeface="Tahoma"/>
              </a:rPr>
              <a:t>ลดภาระการตรวจสอบด้วยตา</a:t>
            </a:r>
            <a:r>
              <a:rPr sz="2000" dirty="0">
                <a:solidFill>
                  <a:srgbClr val="1A1A2E"/>
                </a:solidFill>
                <a:latin typeface="Tahoma"/>
              </a:rPr>
              <a:t>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โดยเน้นเฉพาะการแจ้งเตือนที่มีความน่าเชื่อถือสูง</a:t>
            </a:r>
            <a:endParaRPr sz="2000" dirty="0">
              <a:solidFill>
                <a:srgbClr val="1A1A2E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rPr sz="4400"/>
              <a:t>สรุปผล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7670" y="1234440"/>
            <a:ext cx="10972800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b="1" dirty="0">
                <a:solidFill>
                  <a:srgbClr val="1A1A2E"/>
                </a:solidFill>
                <a:latin typeface="Tahoma"/>
              </a:rPr>
              <a:t>1. Deep Learning </a:t>
            </a:r>
            <a:r>
              <a:rPr sz="2000" b="1" dirty="0" err="1">
                <a:solidFill>
                  <a:srgbClr val="1A1A2E"/>
                </a:solidFill>
                <a:latin typeface="Tahoma"/>
              </a:rPr>
              <a:t>เหนือกว่า</a:t>
            </a:r>
            <a:r>
              <a:rPr sz="2000" b="1" dirty="0">
                <a:solidFill>
                  <a:srgbClr val="1A1A2E"/>
                </a:solidFill>
                <a:latin typeface="Tahoma"/>
              </a:rPr>
              <a:t> ML </a:t>
            </a:r>
            <a:r>
              <a:rPr sz="2000" b="1" dirty="0" err="1">
                <a:solidFill>
                  <a:srgbClr val="1A1A2E"/>
                </a:solidFill>
                <a:latin typeface="Tahoma"/>
              </a:rPr>
              <a:t>แบบดั้งเดิมอย่างชัดเจน</a:t>
            </a:r>
            <a:r>
              <a:rPr sz="2000" b="1" dirty="0">
                <a:solidFill>
                  <a:srgbClr val="1A1A2E"/>
                </a:solidFill>
                <a:latin typeface="Tahoma"/>
              </a:rPr>
              <a:t>: </a:t>
            </a:r>
            <a:r>
              <a:rPr sz="2000" dirty="0">
                <a:solidFill>
                  <a:srgbClr val="1A1A2E"/>
                </a:solidFill>
                <a:latin typeface="Tahoma"/>
              </a:rPr>
              <a:t>R²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เพิ่มจาก</a:t>
            </a:r>
            <a:r>
              <a:rPr sz="2000" dirty="0">
                <a:solidFill>
                  <a:srgbClr val="1A1A2E"/>
                </a:solidFill>
                <a:latin typeface="Tahoma"/>
              </a:rPr>
              <a:t> 0.63 (Random Forest)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เป็น</a:t>
            </a:r>
            <a:r>
              <a:rPr sz="2000" dirty="0">
                <a:solidFill>
                  <a:srgbClr val="1A1A2E"/>
                </a:solidFill>
                <a:latin typeface="Tahoma"/>
              </a:rPr>
              <a:t> 0.95 (Transformer) -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ลดความแปรปรวนที่อธิบายไม่ได้</a:t>
            </a:r>
            <a:r>
              <a:rPr sz="2000" dirty="0">
                <a:solidFill>
                  <a:srgbClr val="1A1A2E"/>
                </a:solidFill>
                <a:latin typeface="Tahoma"/>
              </a:rPr>
              <a:t> 49%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dirty="0">
                <a:solidFill>
                  <a:srgbClr val="1A1A2E"/>
                </a:solidFill>
                <a:latin typeface="Tahoma"/>
              </a:rPr>
              <a:t>2. Transformer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ทำนายได้แม่นยำที่สุด</a:t>
            </a:r>
            <a:r>
              <a:rPr sz="2000" dirty="0">
                <a:solidFill>
                  <a:srgbClr val="1A1A2E"/>
                </a:solidFill>
                <a:latin typeface="Tahoma"/>
              </a:rPr>
              <a:t> (RMSE=32.05, MAE=13.76, R²=0.9459)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ขณะที่</a:t>
            </a:r>
            <a:r>
              <a:rPr sz="2000" dirty="0">
                <a:solidFill>
                  <a:srgbClr val="1A1A2E"/>
                </a:solidFill>
                <a:latin typeface="Tahoma"/>
              </a:rPr>
              <a:t> CNN-LSTM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ประหยัดที่สุด</a:t>
            </a:r>
            <a:r>
              <a:rPr sz="2000" dirty="0">
                <a:solidFill>
                  <a:srgbClr val="1A1A2E"/>
                </a:solidFill>
                <a:latin typeface="Tahoma"/>
              </a:rPr>
              <a:t> (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ความแม่นยำใกล้เคียงด้วยพารามิเตอร์น้อยกว่า</a:t>
            </a:r>
            <a:r>
              <a:rPr sz="2000" dirty="0">
                <a:solidFill>
                  <a:srgbClr val="1A1A2E"/>
                </a:solidFill>
                <a:latin typeface="Tahoma"/>
              </a:rPr>
              <a:t> 6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เท่า</a:t>
            </a:r>
            <a:r>
              <a:rPr sz="2000" dirty="0">
                <a:solidFill>
                  <a:srgbClr val="1A1A2E"/>
                </a:solidFill>
                <a:latin typeface="Tahoma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dirty="0">
                <a:solidFill>
                  <a:srgbClr val="1A1A2E"/>
                </a:solidFill>
                <a:latin typeface="Tahoma"/>
              </a:rPr>
              <a:t>3.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ความเข้มแสงเป็นตัวทำนายหลัก</a:t>
            </a:r>
            <a:r>
              <a:rPr sz="2000" dirty="0">
                <a:solidFill>
                  <a:srgbClr val="1A1A2E"/>
                </a:solidFill>
                <a:latin typeface="Tahoma"/>
              </a:rPr>
              <a:t> (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ความสำคัญ</a:t>
            </a:r>
            <a:r>
              <a:rPr sz="2000" dirty="0">
                <a:solidFill>
                  <a:srgbClr val="1A1A2E"/>
                </a:solidFill>
                <a:latin typeface="Tahoma"/>
              </a:rPr>
              <a:t> 94.6%) ยืนยันความสัมพันธ์ทางฟิสิกส์ระหว่างรังสีแสงอาทิตย์กับการผลิตไฟฟ้า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dirty="0">
                <a:solidFill>
                  <a:srgbClr val="1A1A2E"/>
                </a:solidFill>
                <a:latin typeface="Tahoma"/>
              </a:rPr>
              <a:t>4. Ensemble Voting (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เสียงข้างมากจาก</a:t>
            </a:r>
            <a:r>
              <a:rPr sz="2000" dirty="0">
                <a:solidFill>
                  <a:srgbClr val="1A1A2E"/>
                </a:solidFill>
                <a:latin typeface="Tahoma"/>
              </a:rPr>
              <a:t> 6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โมเดล</a:t>
            </a:r>
            <a:r>
              <a:rPr sz="2000" dirty="0">
                <a:solidFill>
                  <a:srgbClr val="1A1A2E"/>
                </a:solidFill>
                <a:latin typeface="Tahoma"/>
              </a:rPr>
              <a:t>)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ระบุความผิดปกติที่มีความน่าเชื่อถือสูง</a:t>
            </a:r>
            <a:r>
              <a:rPr sz="2000" dirty="0">
                <a:solidFill>
                  <a:srgbClr val="1A1A2E"/>
                </a:solidFill>
                <a:latin typeface="Tahoma"/>
              </a:rPr>
              <a:t> 131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จุด</a:t>
            </a:r>
            <a:r>
              <a:rPr sz="2000" dirty="0">
                <a:solidFill>
                  <a:srgbClr val="1A1A2E"/>
                </a:solidFill>
                <a:latin typeface="Tahoma"/>
              </a:rPr>
              <a:t> (2.9%)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ในช่วงทดสอบ</a:t>
            </a:r>
            <a:r>
              <a:rPr sz="2000" dirty="0">
                <a:solidFill>
                  <a:srgbClr val="1A1A2E"/>
                </a:solidFill>
                <a:latin typeface="Tahoma"/>
              </a:rPr>
              <a:t>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ลด</a:t>
            </a:r>
            <a:r>
              <a:rPr sz="2000" dirty="0">
                <a:solidFill>
                  <a:srgbClr val="1A1A2E"/>
                </a:solidFill>
                <a:latin typeface="Tahoma"/>
              </a:rPr>
              <a:t> false positive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b="1" dirty="0">
                <a:solidFill>
                  <a:srgbClr val="1A1A2E"/>
                </a:solidFill>
                <a:latin typeface="Tahoma"/>
              </a:rPr>
              <a:t>5. </a:t>
            </a:r>
            <a:r>
              <a:rPr sz="2000" b="1" dirty="0" err="1">
                <a:solidFill>
                  <a:srgbClr val="1A1A2E"/>
                </a:solidFill>
                <a:latin typeface="Tahoma"/>
              </a:rPr>
              <a:t>แนวทางนี้ตีความได้ง่าย</a:t>
            </a:r>
            <a:r>
              <a:rPr sz="2000" b="1" dirty="0">
                <a:solidFill>
                  <a:srgbClr val="1A1A2E"/>
                </a:solidFill>
                <a:latin typeface="Tahoma"/>
              </a:rPr>
              <a:t>: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ความผิดปกติหมายถึง</a:t>
            </a:r>
            <a:r>
              <a:rPr sz="2000" dirty="0">
                <a:solidFill>
                  <a:srgbClr val="1A1A2E"/>
                </a:solidFill>
                <a:latin typeface="Tahoma"/>
              </a:rPr>
              <a:t>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ระบบผลิตไฟฟ้าแตกต่างจากที่คาดอย่างมาก</a:t>
            </a:r>
            <a:r>
              <a:rPr sz="2000" dirty="0">
                <a:solidFill>
                  <a:srgbClr val="1A1A2E"/>
                </a:solidFill>
                <a:latin typeface="Tahoma"/>
              </a:rPr>
              <a:t>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เมื่อพิจารณาสภาพอากาศปัจจุบัน</a:t>
            </a:r>
            <a:endParaRPr sz="2000" dirty="0">
              <a:solidFill>
                <a:srgbClr val="1A1A2E"/>
              </a:solidFill>
              <a:latin typeface="Tahoma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dirty="0">
                <a:solidFill>
                  <a:srgbClr val="1A1A2E"/>
                </a:solidFill>
                <a:latin typeface="Tahoma"/>
              </a:rPr>
              <a:t>6.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พบ</a:t>
            </a:r>
            <a:r>
              <a:rPr sz="2000" dirty="0">
                <a:solidFill>
                  <a:srgbClr val="1A1A2E"/>
                </a:solidFill>
                <a:latin typeface="Tahoma"/>
              </a:rPr>
              <a:t> 1,655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จุดข้อมูลที่ผลิตไฟฟ้าตอนไม่มีแสงแดด</a:t>
            </a:r>
            <a:r>
              <a:rPr sz="2000" dirty="0">
                <a:solidFill>
                  <a:srgbClr val="1A1A2E"/>
                </a:solidFill>
                <a:latin typeface="Tahoma"/>
              </a:rPr>
              <a:t> 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ควรตรวจสอบปัญหาเซ็นเซอร์</a:t>
            </a:r>
            <a:r>
              <a:rPr sz="2000" dirty="0">
                <a:solidFill>
                  <a:srgbClr val="1A1A2E"/>
                </a:solidFill>
                <a:latin typeface="Tahoma"/>
              </a:rPr>
              <a:t>/</a:t>
            </a:r>
            <a:r>
              <a:rPr sz="2000" dirty="0" err="1">
                <a:solidFill>
                  <a:srgbClr val="1A1A2E"/>
                </a:solidFill>
                <a:latin typeface="Tahoma"/>
              </a:rPr>
              <a:t>ข้อมูล</a:t>
            </a:r>
            <a:endParaRPr sz="2000" dirty="0">
              <a:solidFill>
                <a:srgbClr val="1A1A2E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แผนงานในอนาคต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758291"/>
              </p:ext>
            </p:extLst>
          </p:nvPr>
        </p:nvGraphicFramePr>
        <p:xfrm>
          <a:off x="643890" y="1362075"/>
          <a:ext cx="808101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2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rPr sz="1800" dirty="0" err="1"/>
                        <a:t>ลำดับ</a:t>
                      </a:r>
                      <a:endParaRPr sz="1800" dirty="0"/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rPr sz="1800"/>
                        <a:t>งาน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rPr sz="1800"/>
                        <a:t>รายละเอียด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สูง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ขยายไปทุกไซต์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ขยายไปยังทั้ง 4 ไซต์ (ปัจจุบันมีเฉพาะ Site 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สูง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ปรับเกณฑ์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ปรับค่า sigma ต่อไซต์ตาม feedback จากผู้ปฏิบัติงาน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กลาง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จำแนกประเภทความผิดปกติ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แยกประเภท: อินเวอร์เตอร์, แผง, เซ็นเซอร์ ฯลฯ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กลาง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ระบบ Real-time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สร้าง streaming inference สำหรับตรวจสอบต่อเนื่อง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ต่ำ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Transfer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ฝึกล่วงหน้าบน Site 1, fine-tune บน Sites 2-4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ต่ำ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/>
                        <a:t>Explainability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Tahoma"/>
                        </a:defRPr>
                      </a:pPr>
                      <a:r>
                        <a:rPr sz="1800" dirty="0" err="1"/>
                        <a:t>เพิ่ม</a:t>
                      </a:r>
                      <a:r>
                        <a:rPr sz="1800" dirty="0"/>
                        <a:t> SHAP / Attention visualization </a:t>
                      </a:r>
                      <a:r>
                        <a:rPr sz="1800" dirty="0" err="1"/>
                        <a:t>เพื่อวิเคราะห์สาเหตุ</a:t>
                      </a:r>
                      <a:endParaRPr sz="1800" dirty="0"/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0584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Tahoma"/>
              </a:defRPr>
            </a:pPr>
            <a:r>
              <a:rPr sz="6600" dirty="0" err="1"/>
              <a:t>ขอบคุณครับ</a:t>
            </a:r>
            <a:endParaRPr sz="6600" dirty="0"/>
          </a:p>
        </p:txBody>
      </p:sp>
      <p:sp>
        <p:nvSpPr>
          <p:cNvPr id="3" name="Rectangle 2"/>
          <p:cNvSpPr/>
          <p:nvPr/>
        </p:nvSpPr>
        <p:spPr>
          <a:xfrm>
            <a:off x="3657600" y="3200400"/>
            <a:ext cx="45720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Tahoma"/>
              </a:defRPr>
            </a:pPr>
            <a:r>
              <a:t>การตรวจจับความผิดปกติในระบบผลิตไฟฟ้าพลังงานแสงอาทิตย์</a:t>
            </a:r>
            <a:br/>
            <a:r>
              <a:t>ด้วย Machine Learning และ Deep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1874</Words>
  <Application>Microsoft Office PowerPoint</Application>
  <PresentationFormat>Widescreen</PresentationFormat>
  <Paragraphs>373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SUPHOT NARAPONG</cp:lastModifiedBy>
  <cp:revision>4</cp:revision>
  <dcterms:created xsi:type="dcterms:W3CDTF">2013-01-27T09:14:16Z</dcterms:created>
  <dcterms:modified xsi:type="dcterms:W3CDTF">2026-03-28T08:13:51Z</dcterms:modified>
  <cp:category/>
</cp:coreProperties>
</file>