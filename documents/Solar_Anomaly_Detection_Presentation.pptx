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7" r:id="rId8"/>
    <p:sldId id="262" r:id="rId9"/>
    <p:sldId id="263" r:id="rId10"/>
    <p:sldId id="28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85" r:id="rId21"/>
    <p:sldId id="273" r:id="rId22"/>
    <p:sldId id="274" r:id="rId23"/>
    <p:sldId id="275" r:id="rId24"/>
    <p:sldId id="284" r:id="rId25"/>
    <p:sldId id="276" r:id="rId26"/>
    <p:sldId id="277" r:id="rId27"/>
    <p:sldId id="278" r:id="rId28"/>
    <p:sldId id="279" r:id="rId29"/>
    <p:sldId id="280" r:id="rId30"/>
    <p:sldId id="281" r:id="rId31"/>
    <p:sldId id="283" r:id="rId32"/>
    <p:sldId id="288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Anomaly Detection in Solar Power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8C00"/>
                </a:solidFill>
                <a:latin typeface="Calibri"/>
              </a:defRPr>
            </a:pPr>
            <a:r>
              <a:t>Using Machine Learning and Deep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3657600"/>
            <a:ext cx="54864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Site 1 Analysis  |  June - December 2025  |  PyTorch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Goal: Detect anomalies in solar power generation that indicate equipment faults, panel degradation, inverter failures, or sensor errors.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D6"/>
                </a:solidFill>
                <a:latin typeface="Calibri"/>
              </a:defRPr>
            </a:pPr>
            <a: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Undetected faults reduce energy output and revenue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Early detection enables preventive maintenance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Reduces system downtime and extends equipment lifespan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Critical for scaling solar infrastructure reliably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03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D6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Train models to learn the NORMAL relationship between weather conditions and solar generation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When actual output deviates significantly from predicted output, flag as ANOMALY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Use multiple models (ML + DL) and ensemble voting for robust detection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Site 1 Solar Power Plant  |  June - December 2025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3556102"/>
              </p:ext>
            </p:extLst>
          </p:nvPr>
        </p:nvGraphicFramePr>
        <p:xfrm>
          <a:off x="548640" y="1371600"/>
          <a:ext cx="651891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3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0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51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Sensor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Raw Rows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Generation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Solar production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Target (Y)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26,226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Irradiance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Solar radiation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W/m²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Feature (X)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 min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26,177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Temperature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Ambient temp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°C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Feature (X)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 min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26,195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Load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Power consumption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kW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Context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 min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17,367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Variable Statistics (After Cleaning)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994572"/>
              </p:ext>
            </p:extLst>
          </p:nvPr>
        </p:nvGraphicFramePr>
        <p:xfrm>
          <a:off x="548640" y="4114800"/>
          <a:ext cx="4440874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Generation (kW)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150.86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638.00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Irradiance (W/m²)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157.76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243.96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1,073.00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Temperature (°C)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28.73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37.05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Exploratory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Understanding the data before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461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4040"/>
                </a:solidFill>
                <a:latin typeface="Calibri"/>
              </a:defRPr>
            </a:pPr>
            <a:r>
              <a:t>Challenge: Different Time Resolutions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Gen, Irradiance, Temp: ~1-minute intervals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Load: 15-minute intervals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Cannot merge directly - need uniform 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C853"/>
                </a:solidFill>
                <a:latin typeface="Calibri"/>
              </a:defRPr>
            </a:pPr>
            <a:r>
              <a:t>Solution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6132194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1. Resample all data to uniform 15-min intervals (mean aggregation)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2. Merge 4 variables via outer join on timestamp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3. Forward-fill small gaps (up to 1 hour)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4. Time-based interpolation for remaining short gaps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5. Drop rows with large unrecoverable gaps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161095"/>
              </p:ext>
            </p:extLst>
          </p:nvPr>
        </p:nvGraphicFramePr>
        <p:xfrm>
          <a:off x="6400800" y="1371600"/>
          <a:ext cx="285788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0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Stage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Raw merged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17,664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Outer join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After cleaning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15,013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Usable data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Dropped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2,651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15% loss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Correlation Analysis</a:t>
            </a:r>
          </a:p>
        </p:txBody>
      </p:sp>
      <p:pic>
        <p:nvPicPr>
          <p:cNvPr id="4" name="Picture 3" descr="eda_cell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029200" cy="449696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371600"/>
          <a:ext cx="5760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Strength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Irradiance (W/m²)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0.901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Very Strong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Temperature (°C)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0.564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Moderate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Load (kW)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Negligible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0" y="3200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36576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Irradiance: </a:t>
            </a:r>
            <a:r>
              <a:rPr sz="1600">
                <a:solidFill>
                  <a:srgbClr val="1A1A2E"/>
                </a:solidFill>
                <a:latin typeface="Calibri"/>
              </a:rPr>
              <a:t>r=0.90 - primary driver of generation (physics-based)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Temperature: </a:t>
            </a:r>
            <a:r>
              <a:rPr sz="1600">
                <a:solidFill>
                  <a:srgbClr val="1A1A2E"/>
                </a:solidFill>
                <a:latin typeface="Calibri"/>
              </a:rPr>
              <a:t>r=0.56 - moderate, co-varies with sunny hours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Load: </a:t>
            </a:r>
            <a:r>
              <a:rPr sz="1600">
                <a:solidFill>
                  <a:srgbClr val="1A1A2E"/>
                </a:solidFill>
                <a:latin typeface="Calibri"/>
              </a:rPr>
              <a:t>r=0.03 - independent consumption pattern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Selected features for modeling: </a:t>
            </a:r>
            <a:r>
              <a:rPr sz="1600">
                <a:solidFill>
                  <a:srgbClr val="1A1A2E"/>
                </a:solidFill>
                <a:latin typeface="Calibri"/>
              </a:rPr>
              <a:t>Irradiance + Temperature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13D12-56DA-70E9-36A9-616F97540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9B3234-C4FC-784F-9EFA-DE1FCCCFF17A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AA55F6-EC9E-03A1-1B37-D6482D9D1156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Time Series Overview (6 Months)</a:t>
            </a:r>
          </a:p>
        </p:txBody>
      </p:sp>
      <p:pic>
        <p:nvPicPr>
          <p:cNvPr id="4" name="Picture 3" descr="eda_cell16.png">
            <a:extLst>
              <a:ext uri="{FF2B5EF4-FFF2-40B4-BE49-F238E27FC236}">
                <a16:creationId xmlns:a16="http://schemas.microsoft.com/office/drawing/2014/main" id="{1A67BFE9-5D06-895E-39E6-3AF4A1CADD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222"/>
          <a:stretch>
            <a:fillRect/>
          </a:stretch>
        </p:blipFill>
        <p:spPr>
          <a:xfrm>
            <a:off x="0" y="1097280"/>
            <a:ext cx="12187923" cy="5419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976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Time Series Overview (6 Months)</a:t>
            </a:r>
          </a:p>
        </p:txBody>
      </p:sp>
      <p:pic>
        <p:nvPicPr>
          <p:cNvPr id="4" name="Picture 3" descr="eda_cell16.png"/>
          <p:cNvPicPr>
            <a:picLocks noChangeAspect="1"/>
          </p:cNvPicPr>
          <p:nvPr/>
        </p:nvPicPr>
        <p:blipFill>
          <a:blip r:embed="rId2"/>
          <a:srcRect t="49229"/>
          <a:stretch>
            <a:fillRect/>
          </a:stretch>
        </p:blipFill>
        <p:spPr>
          <a:xfrm>
            <a:off x="47602" y="1234440"/>
            <a:ext cx="1209679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Daily Patterns &amp; Scatter Analysis</a:t>
            </a:r>
          </a:p>
        </p:txBody>
      </p:sp>
      <p:pic>
        <p:nvPicPr>
          <p:cNvPr id="4" name="Picture 3" descr="eda_cell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188720"/>
            <a:ext cx="7999095" cy="56756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2A8FE-616E-FA72-6863-92ED7D9C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190E5C-9447-DCE4-0803-F399581BD7AA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F5FD5A-A871-3D90-9405-6D75858865BB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Daily Patterns &amp; Scatter Analysis</a:t>
            </a:r>
          </a:p>
        </p:txBody>
      </p:sp>
      <p:pic>
        <p:nvPicPr>
          <p:cNvPr id="5" name="Picture 4" descr="eda_cell23.png">
            <a:extLst>
              <a:ext uri="{FF2B5EF4-FFF2-40B4-BE49-F238E27FC236}">
                <a16:creationId xmlns:a16="http://schemas.microsoft.com/office/drawing/2014/main" id="{798972A0-3FBD-1E1F-2AE6-030202845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" y="1483994"/>
            <a:ext cx="12026066" cy="331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295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EDA: Key Observations</a:t>
            </a:r>
          </a:p>
        </p:txBody>
      </p:sp>
      <p:pic>
        <p:nvPicPr>
          <p:cNvPr id="4" name="Picture 3" descr="eda_cell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580406" cy="2301240"/>
          </a:xfrm>
          <a:prstGeom prst="rect">
            <a:avLst/>
          </a:prstGeom>
        </p:spPr>
      </p:pic>
      <p:pic>
        <p:nvPicPr>
          <p:cNvPr id="5" name="Picture 4" descr="eda_cell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840480"/>
            <a:ext cx="6695902" cy="20459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61663" y="1375112"/>
            <a:ext cx="5054138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1,655 data points: Generation recorded with zero sunlight (potential sensor/logging error)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0 data points: High irradiance with zero generation (no obvious equipment failure detected)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Generation efficiency (daytime): mean = 0.71 kW/(W/m²)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Solar surplus covers only 10.8% of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Site relies on grid power 89.2% of the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Clear daily bell-curve pattern for generation/irradiance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Seasonal variation visible across Jun-Dec period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Model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Machine Learning &amp; Deep Learning Approaches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461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Methodology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9942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t>Train/Test Split (Time-Based, No Shuffle)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6570828"/>
              </p:ext>
            </p:extLst>
          </p:nvPr>
        </p:nvGraphicFramePr>
        <p:xfrm>
          <a:off x="548640" y="1656621"/>
          <a:ext cx="33119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7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14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Set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Period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10,509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Jun 1 - Oct 6, 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4,504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Oct 6 - Dec 1, 2025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30%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6" name="Picture 5" descr="train_cell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025" y="1391742"/>
            <a:ext cx="6875002" cy="16873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148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rPr dirty="0"/>
              <a:t>6 Models Trained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630734"/>
              </p:ext>
            </p:extLst>
          </p:nvPr>
        </p:nvGraphicFramePr>
        <p:xfrm>
          <a:off x="457200" y="3583305"/>
          <a:ext cx="76037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8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2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6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749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#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ML, Unsupervised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Detects statistically isolated points in feature space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ML, Supervised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Regression prediction; large error = anomaly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DL, Sequential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Learns temporal patterns from 1-hour sliding windows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CNN-LSTM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DL, Hybrid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CNN extracts local features + LSTM captures time dynamics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 Autoencoder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DL, Reconstruction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Compresses &amp; reconstructs normal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Transformer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DL, Self-Attention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Multi-head attention captures all-timestep dependencies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Deep Learning Model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PyTorch  |  Input: 4 timesteps x 3 features  |  Output: 3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LSTM (53,123 params)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2-layer LSTM (hidden=64)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Dropout 0.2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FC: 64 -&gt; 32 -&gt; 3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Last timestep output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8328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Calibri"/>
              </a:defRPr>
            </a:pPr>
            <a:r>
              <a:t>CNN-LSTM (8,819 params)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Conv1D: 3-&gt;32-&gt;16 filters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1-layer LSTM (hidden=32)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FC: 32 -&gt; 32 -&gt; 3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Most parameter-efficient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853"/>
                </a:solidFill>
                <a:latin typeface="Calibri"/>
              </a:defRPr>
            </a:pPr>
            <a:r>
              <a:t>LSTM Autoencoder (16,611)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Encoder: LSTM 3-&gt;32-&gt;16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Bottleneck: 16-dim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Decoder: LSTM 16-&gt;32-&gt;3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dirty="0">
                <a:solidFill>
                  <a:srgbClr val="1A1A2E"/>
                </a:solidFill>
                <a:latin typeface="Calibri"/>
              </a:rPr>
              <a:t>Reconstruct input sequence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280160"/>
            <a:ext cx="27432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0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4040"/>
                </a:solidFill>
                <a:latin typeface="Calibri"/>
              </a:defRPr>
            </a:pPr>
            <a:r>
              <a:t>Transformer (~37K params)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691640"/>
            <a:ext cx="24688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Input proj + Pos Encoding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2 Encoder layers, 2 heads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d_model=32, ff_dim=64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Global avg pool + FC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rPr dirty="0"/>
              <a:t>Training Configuration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421575"/>
              </p:ext>
            </p:extLst>
          </p:nvPr>
        </p:nvGraphicFramePr>
        <p:xfrm>
          <a:off x="548640" y="4480560"/>
          <a:ext cx="644963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5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76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3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Optimizer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Adam (lr=0.001)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LR Scheduler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ReduceLROnPlateau (factor=0.5)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Early Stopping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Patience=15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Loss Function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Gradient Clipping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Max norm=1.0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Scaling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MinMaxScaler (0-1)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GPU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NVIDIA RTX 3060 Ti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Detection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3-Sigma Rule on Prediction Error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029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96D6"/>
                </a:solidFill>
                <a:latin typeface="Calibri"/>
              </a:defRPr>
            </a:pPr>
            <a:r>
              <a:rPr dirty="0"/>
              <a:t>Prediction-Based (RF, LSTM, CNN-LSTM, Transformer)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4178"/>
            <a:ext cx="483870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1. Error = |Actual Generation - Predicted Generation|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2. Threshold = Mean(Error) + 3 x Std(Error)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3. If Error &gt; Threshold  --&gt;  ANOMALY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71600"/>
            <a:ext cx="5760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C853"/>
                </a:solidFill>
                <a:latin typeface="Calibri"/>
              </a:defRPr>
            </a:pPr>
            <a:r>
              <a:t>Reconstruction-Based (LSTM Autoencoder)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9832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1. Reconstruct input sequence through bottleneck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2. Error = |Original Sequence - Reconstructed Sequence|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3. Threshold from training data (3-sigma)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dirty="0">
                <a:solidFill>
                  <a:srgbClr val="1A1A2E"/>
                </a:solidFill>
                <a:latin typeface="Calibri"/>
              </a:rPr>
              <a:t>High error = pattern not learned = anomalous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31920"/>
            <a:ext cx="1115568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Calibri"/>
              </a:defRPr>
            </a:pPr>
            <a:r>
              <a:t>Why 3-Sigma?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056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In a normal distribution, 99.7% of data falls within 3 standard deviations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Points beyond 3-sigma are statistically rare (0.3%) and likely represent genuine anomalies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Tunable: 2-sigma = more sensitive (more detections, more false positives) | 4-sigma = more conservative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Consistent threshold applied across all prediction-based models for fair comparison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0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Prediction Performance &amp; Anomaly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461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Training Loss Curves</a:t>
            </a:r>
          </a:p>
        </p:txBody>
      </p:sp>
      <p:pic>
        <p:nvPicPr>
          <p:cNvPr id="4" name="Picture 3" descr="train_cell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852160" cy="2307727"/>
          </a:xfrm>
          <a:prstGeom prst="rect">
            <a:avLst/>
          </a:prstGeom>
        </p:spPr>
      </p:pic>
      <p:pic>
        <p:nvPicPr>
          <p:cNvPr id="5" name="Picture 4" descr="train_cell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88720"/>
            <a:ext cx="5852160" cy="2307727"/>
          </a:xfrm>
          <a:prstGeom prst="rect">
            <a:avLst/>
          </a:prstGeom>
        </p:spPr>
      </p:pic>
      <p:pic>
        <p:nvPicPr>
          <p:cNvPr id="6" name="Picture 5" descr="train_cell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749039"/>
            <a:ext cx="5852160" cy="2305396"/>
          </a:xfrm>
          <a:prstGeom prst="rect">
            <a:avLst/>
          </a:prstGeom>
        </p:spPr>
      </p:pic>
      <p:pic>
        <p:nvPicPr>
          <p:cNvPr id="7" name="Picture 6" descr="train_cell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749039"/>
            <a:ext cx="5852160" cy="230772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Prediction Performance (Test Set)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3185516"/>
              </p:ext>
            </p:extLst>
          </p:nvPr>
        </p:nvGraphicFramePr>
        <p:xfrm>
          <a:off x="548640" y="1371600"/>
          <a:ext cx="413613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29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79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83.37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34.80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0.6346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32.46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15.43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0.9445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53,123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CNN-LSTM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15.45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0.9431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8,819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Transformer *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32.05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13.76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0.9459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~37K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29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rPr dirty="0"/>
              <a:t>* Best model</a:t>
            </a:r>
          </a:p>
        </p:txBody>
      </p:sp>
      <p:pic>
        <p:nvPicPr>
          <p:cNvPr id="6" name="Picture 5" descr="train_cell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706082"/>
            <a:ext cx="9843135" cy="306630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Prediction vs Actual: LSTM &amp; LSTM</a:t>
            </a:r>
          </a:p>
        </p:txBody>
      </p:sp>
      <p:pic>
        <p:nvPicPr>
          <p:cNvPr id="4" name="Picture 3" descr="train_cell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7475220" cy="559347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C24C3-F118-1560-83B8-68F7B7B8B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7FDD9B-81A2-B477-1E51-D46F49ABD4B9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220A1-358C-CB73-F3E3-3A564084A6EB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Prediction vs Actual: LSTM &amp; CNN</a:t>
            </a:r>
          </a:p>
        </p:txBody>
      </p:sp>
      <p:pic>
        <p:nvPicPr>
          <p:cNvPr id="5" name="Picture 4" descr="train_cell27.png">
            <a:extLst>
              <a:ext uri="{FF2B5EF4-FFF2-40B4-BE49-F238E27FC236}">
                <a16:creationId xmlns:a16="http://schemas.microsoft.com/office/drawing/2014/main" id="{94227A42-054B-7ED7-5F85-049B70A7E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" y="1100278"/>
            <a:ext cx="7511415" cy="5620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983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Prediction vs Actual: Transformer (Best Model)</a:t>
            </a:r>
          </a:p>
        </p:txBody>
      </p:sp>
      <p:pic>
        <p:nvPicPr>
          <p:cNvPr id="4" name="Picture 3" descr="train_cell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1209257"/>
            <a:ext cx="7324726" cy="54808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Detection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6858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Anomalies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of Test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Isolation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Isolation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5.4%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MAE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159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3.5%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MAE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CNN-LSTM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MAE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LSTM Autoencoder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3-sigma recon.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5.9%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Transformer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3-sigma MAE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2.2%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Picture 4" descr="train_cell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371600"/>
            <a:ext cx="4389120" cy="21723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20624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Most conservative: </a:t>
            </a:r>
            <a:r>
              <a:rPr sz="1600">
                <a:solidFill>
                  <a:srgbClr val="1A1A2E"/>
                </a:solidFill>
                <a:latin typeface="Calibri"/>
              </a:rPr>
              <a:t>CNN-LSTM (94 anomalies, 2.1%)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A1A2E"/>
                </a:solidFill>
                <a:latin typeface="Calibri"/>
              </a:rPr>
              <a:t>Most sensitive: </a:t>
            </a:r>
            <a:r>
              <a:rPr sz="1600">
                <a:solidFill>
                  <a:srgbClr val="1A1A2E"/>
                </a:solidFill>
                <a:latin typeface="Calibri"/>
              </a:rPr>
              <a:t>LSTM Autoencoder (265, 5.9%) - reconstruction-based catches more subtle deviations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DL prediction models converge at ~2.1-2.3% - consistent and reliable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Unsupervised methods (IF, AE) detect more anomalies but may include more false positives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Visualization: ML Models</a:t>
            </a:r>
          </a:p>
        </p:txBody>
      </p:sp>
      <p:pic>
        <p:nvPicPr>
          <p:cNvPr id="4" name="Picture 3" descr="train_cell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188720"/>
            <a:ext cx="10617647" cy="52787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ED5B3-B5C5-247B-267C-48393C54A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9BA4221-820C-1468-754D-377F0B4A62A5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9461E5-4037-2C6F-A045-2241275CEAC3}"/>
              </a:ext>
            </a:extLst>
          </p:cNvPr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Visualization: ML Models</a:t>
            </a:r>
          </a:p>
        </p:txBody>
      </p:sp>
      <p:pic>
        <p:nvPicPr>
          <p:cNvPr id="5" name="Picture 4" descr="train_cell19.png">
            <a:extLst>
              <a:ext uri="{FF2B5EF4-FFF2-40B4-BE49-F238E27FC236}">
                <a16:creationId xmlns:a16="http://schemas.microsoft.com/office/drawing/2014/main" id="{60010FB4-FBA7-9E46-95AF-9A9505FE5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" y="1144904"/>
            <a:ext cx="7465695" cy="558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5770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Anomaly Visualization: LSTM Autoencoder</a:t>
            </a:r>
          </a:p>
        </p:txBody>
      </p:sp>
      <p:pic>
        <p:nvPicPr>
          <p:cNvPr id="4" name="Picture 3" descr="train_cell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545532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Ensemble Anomaly Detection (Majority Vote)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606744"/>
              </p:ext>
            </p:extLst>
          </p:nvPr>
        </p:nvGraphicFramePr>
        <p:xfrm>
          <a:off x="548640" y="1371600"/>
          <a:ext cx="33127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Agreement Level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Points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 models (normal)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3,939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87.5%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 model only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311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6.9%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 models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 models (anomaly)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2.5%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 models (anomaly)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13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 models (anomaly)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0.07%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 models (anomaly)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0.02%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24790" y="4484370"/>
            <a:ext cx="4490085" cy="711696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224790" y="4488180"/>
            <a:ext cx="457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Total Ensemble Anomalies: 131 (2.9%)</a:t>
            </a:r>
            <a:br>
              <a:rPr dirty="0"/>
            </a:br>
            <a:r>
              <a:rPr dirty="0"/>
              <a:t>Rule: Anomaly if &gt;= 3 of 6 models agree</a:t>
            </a:r>
          </a:p>
        </p:txBody>
      </p:sp>
      <p:pic>
        <p:nvPicPr>
          <p:cNvPr id="7" name="Picture 6" descr="train_cell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275" y="1097280"/>
            <a:ext cx="7189614" cy="447484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Do These Anomalies Mean?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861474"/>
              </p:ext>
            </p:extLst>
          </p:nvPr>
        </p:nvGraphicFramePr>
        <p:xfrm>
          <a:off x="731520" y="1371600"/>
          <a:ext cx="805053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7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5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Anomaly Pattern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Possible Cause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 Required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High irradiance + Low generation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Panel fault, inverter failure, shading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Inspect panels &amp; inverters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Sudden generation drop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Equipment trip, grid disconnection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Check breakers &amp; grid connection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Generation with zero irradiance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Sensor malfunction, data logging error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Calibrate sensors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Gradual efficiency decline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Panel degradation, dust accumulation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Schedule cleaning/maintenance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Unusual generation spikes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Sensor calibration drift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Verify sensor readings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t>Practical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131 flagged time points in ~2 months of test data (Oct-Dec 2025)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Each represents a 15-minute window where the system behaved abnormally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Operations team can investigate clustered anomalies for root cause analysis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Reduces manual inspection effort by focusing attention on high-confidence alerts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>
                <a:solidFill>
                  <a:srgbClr val="1A1A2E"/>
                </a:solidFill>
                <a:latin typeface="Calibri"/>
              </a:rPr>
              <a:t>1. Deep learning dramatically outperforms traditional ML: </a:t>
            </a:r>
            <a:r>
              <a:rPr sz="1700">
                <a:solidFill>
                  <a:srgbClr val="1A1A2E"/>
                </a:solidFill>
                <a:latin typeface="Calibri"/>
              </a:rPr>
              <a:t>R² improved from 0.63 (Random Forest) to 0.95 (Transformer) - a 49% reduction in unexplained variance.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2. Transformer achieved the best prediction accuracy (RMSE=32.05, MAE=13.76, R²=0.9459), while CNN-LSTM is the most efficient (comparable accuracy with 6x fewer parameters).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3. Irradiance is the dominant predictor (94.6% feature importance), confirming the physics-based relationship between solar radiation and power generation.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4. Ensemble voting (majority of 6 models) identified 131 high-confidence anomalies (2.9%) in the test period, providing robust detection with reduced false positives.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>
                <a:solidFill>
                  <a:srgbClr val="1A1A2E"/>
                </a:solidFill>
                <a:latin typeface="Calibri"/>
              </a:rPr>
              <a:t>5. The approach is interpretable: </a:t>
            </a:r>
            <a:r>
              <a:rPr sz="1700">
                <a:solidFill>
                  <a:srgbClr val="1A1A2E"/>
                </a:solidFill>
                <a:latin typeface="Calibri"/>
              </a:rPr>
              <a:t>an anomaly means the system produced significantly different power than expected given current weather conditions.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6. 1,655 data points with generation at zero sunlight warrant investigation as potential sensor/data issues.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147774"/>
              </p:ext>
            </p:extLst>
          </p:nvPr>
        </p:nvGraphicFramePr>
        <p:xfrm>
          <a:off x="548640" y="1371600"/>
          <a:ext cx="6168644" cy="2838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9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17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Multi-site deployment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Extend to all 4 sites (currently only Site 1)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Threshold tuning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Calibrate sigma per site using operator feedback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Anomaly classification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Categorize type: inverter, panel, sensor,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Real-time pipeline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Build streaming inference for continuous monitoring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Transfer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Pre-train on Site 1, fine-tune on Sites 2-4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Explainability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rPr dirty="0"/>
                        <a:t>Add SHAP / attention visualization for root cause</a:t>
                      </a:r>
                    </a:p>
                  </a:txBody>
                  <a:tcPr anchor="ctr">
                    <a:solidFill>
                      <a:srgbClr val="E8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474720"/>
            <a:ext cx="457200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Anomaly Detection in Solar Power Systems</a:t>
            </a:r>
            <a:br/>
            <a:r>
              <a:t>Using Machine Learning and Deep Learning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E4D26C-5FDC-FE62-C3BA-490890691A75}"/>
              </a:ext>
            </a:extLst>
          </p:cNvPr>
          <p:cNvSpPr txBox="1"/>
          <p:nvPr/>
        </p:nvSpPr>
        <p:spPr>
          <a:xfrm>
            <a:off x="190501" y="457200"/>
            <a:ext cx="116586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• Abnormality definition</a:t>
            </a:r>
          </a:p>
          <a:p>
            <a:endParaRPr lang="en-US" dirty="0"/>
          </a:p>
          <a:p>
            <a:r>
              <a:rPr lang="en-US" dirty="0"/>
              <a:t>  - For the prediction-based models (Random Forest plus every </a:t>
            </a:r>
            <a:r>
              <a:rPr lang="en-US" dirty="0" err="1"/>
              <a:t>PyTorch</a:t>
            </a:r>
            <a:r>
              <a:rPr lang="en-US" dirty="0"/>
              <a:t> net), the script computes MAE = |actual - predicted| per timestep, then flags a point as anomalous whenever MAE &gt; mean(MAE) + 3·std(MAE)</a:t>
            </a:r>
          </a:p>
          <a:p>
            <a:r>
              <a:rPr lang="en-US" dirty="0"/>
              <a:t>    according to detect_anomalies_3sigma; this is the 3‑sigma rule highlighted at 02_training_anomaly_detection.py:124‑02_training_anomaly_detection.py:141 and reused wherever detect_anomalies_3sigma is called</a:t>
            </a:r>
          </a:p>
          <a:p>
            <a:r>
              <a:rPr lang="en-US" dirty="0"/>
              <a:t>    (e.g., after the Random Forest and each DL model).</a:t>
            </a:r>
          </a:p>
          <a:p>
            <a:r>
              <a:rPr lang="en-US" dirty="0"/>
              <a:t>  - The Autoencoder is construction-based, so it reconstructs each sequence and measures the average absolute error across the entire sequence (</a:t>
            </a:r>
            <a:r>
              <a:rPr lang="en-US" dirty="0" err="1"/>
              <a:t>ae_recon_error</a:t>
            </a:r>
            <a:r>
              <a:rPr lang="en-US" dirty="0"/>
              <a:t> = mean(|input – reconstruction|)); its threshold</a:t>
            </a:r>
          </a:p>
          <a:p>
            <a:r>
              <a:rPr lang="en-US" dirty="0"/>
              <a:t>    is derived from the training reconstruction errors (</a:t>
            </a:r>
            <a:r>
              <a:rPr lang="en-US" dirty="0" err="1"/>
              <a:t>ae_threshold</a:t>
            </a:r>
            <a:r>
              <a:rPr lang="en-US" dirty="0"/>
              <a:t> = mean + 3·std of </a:t>
            </a:r>
            <a:r>
              <a:rPr lang="en-US" dirty="0" err="1"/>
              <a:t>ae_train_error</a:t>
            </a:r>
            <a:r>
              <a:rPr lang="en-US" dirty="0"/>
              <a:t>), then any test row exceeding that is flagged</a:t>
            </a:r>
          </a:p>
          <a:p>
            <a:r>
              <a:rPr lang="en-US" dirty="0"/>
              <a:t>    (02_training_anomaly_detection.py:482‑02_training_anomaly_detection.py:502).</a:t>
            </a:r>
          </a:p>
          <a:p>
            <a:r>
              <a:rPr lang="en-US" dirty="0"/>
              <a:t>  - The Isolation Forest uses its built-in predict output (−1 for anomalies) and counts those as abnormal points (02_training_anomaly_detection.py:241‑02_training_anomaly_detection.py:263).</a:t>
            </a:r>
          </a:p>
          <a:p>
            <a:r>
              <a:rPr lang="en-US" dirty="0"/>
              <a:t>  - Finally, the ensemble treats a timestamp as abnormal if three or more of the six models (Isolation Forest, Random Forest, LSTM, CNN-LSTM, Autoencoder, Transformer) agree on an anomaly; the vote matrix and</a:t>
            </a:r>
          </a:p>
          <a:p>
            <a:r>
              <a:rPr lang="en-US" dirty="0"/>
              <a:t>    thresholding happen at 02_training_anomaly_detection.py:586‑02_training_anomaly_detection.py:603.</a:t>
            </a:r>
          </a:p>
        </p:txBody>
      </p:sp>
    </p:spTree>
    <p:extLst>
      <p:ext uri="{BB962C8B-B14F-4D97-AF65-F5344CB8AC3E}">
        <p14:creationId xmlns:p14="http://schemas.microsoft.com/office/powerpoint/2010/main" val="8105292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at Really is R2-Score in Linear Regression? | by Benjamin Obi Tayo Ph.D.  | Medium">
            <a:extLst>
              <a:ext uri="{FF2B5EF4-FFF2-40B4-BE49-F238E27FC236}">
                <a16:creationId xmlns:a16="http://schemas.microsoft.com/office/drawing/2014/main" id="{B9544045-EE42-D8E2-8D55-73E4943D82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864" y="433388"/>
            <a:ext cx="5172612" cy="3119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>
            <a:extLst>
              <a:ext uri="{FF2B5EF4-FFF2-40B4-BE49-F238E27FC236}">
                <a16:creationId xmlns:a16="http://schemas.microsoft.com/office/drawing/2014/main" id="{6033E363-AD2D-E98D-7C2E-247D7FEE7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727" y="586491"/>
            <a:ext cx="2891374" cy="2813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722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1927</Words>
  <Application>Microsoft Office PowerPoint</Application>
  <PresentationFormat>Widescreen</PresentationFormat>
  <Paragraphs>388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SUPHOT NARAPONG</cp:lastModifiedBy>
  <cp:revision>7</cp:revision>
  <dcterms:created xsi:type="dcterms:W3CDTF">2013-01-27T09:14:16Z</dcterms:created>
  <dcterms:modified xsi:type="dcterms:W3CDTF">2026-03-28T06:15:11Z</dcterms:modified>
  <cp:category/>
</cp:coreProperties>
</file>